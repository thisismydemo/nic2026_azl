
<file path=[Content_Types].xml><?xml version="1.0" encoding="utf-8"?>
<Types xmlns="http://schemas.openxmlformats.org/package/2006/content-types">
  <Default Extension="mp4" ContentType="video/mp4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7-1.png"/><Relationship Id="rId101" Type="http://schemas.openxmlformats.org/officeDocument/2006/relationships/image" Target="../media/gen-s7-2.png"/><Relationship Id="rId102" Type="http://schemas.openxmlformats.org/officeDocument/2006/relationships/image" Target="../media/gen-s7-3.png"/><Relationship Id="rId103" Type="http://schemas.openxmlformats.org/officeDocument/2006/relationships/image" Target="../media/gen-s7-4.png"/><Relationship Id="rId104" Type="http://schemas.openxmlformats.org/officeDocument/2006/relationships/image" Target="../media/gen-s7-5.png"/><Relationship Id="rId105" Type="http://schemas.openxmlformats.org/officeDocument/2006/relationships/image" Target="../media/gen-s7-6.png"/><Relationship Id="rId106" Type="http://schemas.openxmlformats.org/officeDocument/2006/relationships/image" Target="../media/gen-s7-7.png"/><Relationship Id="rId107" Type="http://schemas.openxmlformats.org/officeDocument/2006/relationships/image" Target="../media/gen-s7-8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8-1.png"/><Relationship Id="rId300" Type="http://schemas.openxmlformats.org/officeDocument/2006/relationships/video" Target="../media/gen-s8-video1.mp4"/><Relationship Id="rId301" Type="http://schemas.microsoft.com/office/2007/relationships/media" Target="../media/gen-s8-video1.mp4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0-1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1-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2-1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4-1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8-1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9-1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1-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2-1.png"/><Relationship Id="rId101" Type="http://schemas.openxmlformats.org/officeDocument/2006/relationships/image" Target="../media/gen-s22-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4-1.png"/><Relationship Id="rId300" Type="http://schemas.openxmlformats.org/officeDocument/2006/relationships/video" Target="../media/gen-s24-video1.mp4"/><Relationship Id="rId301" Type="http://schemas.microsoft.com/office/2007/relationships/media" Target="../media/gen-s24-video1.mp4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5-1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8-1.png"/><Relationship Id="rId300" Type="http://schemas.openxmlformats.org/officeDocument/2006/relationships/video" Target="../media/gen-s28-video1.mp4"/><Relationship Id="rId301" Type="http://schemas.microsoft.com/office/2007/relationships/media" Target="../media/gen-s28-video1.mp4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3-1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5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  <p:pic>
        <p:nvPicPr>
          <p:cNvPr id="4" name="Title design 4" descr="Title slide as a voyage chart: Azure Local, Plan, Deploy, and Operate Azure Local from Discovery to Day 2. A dashed course with a sailboat runs through the six legs of the session: 1 Charting the course (plan and discover), 2 Building the ship (deploy), 3 Making it seaworthy (day-2 ready), 4 Loading the cargo (migrate), 5 Weathering the storm (day-2 operations), 6 Safe harbour (close and take-home), ending at a lighthouse. Kristopher Turner, Thu 15 Oct, 09:50, Room 5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port: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Ask questions any time, and tell me to slow down</a:t>
            </a:r>
          </a:p>
        </p:txBody>
      </p:sp>
      <p:pic>
        <p:nvPicPr>
          <p:cNvPr id="3" name="Chart 3" descr="Ask questions any time, and tell me to slow down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Everything you see today is in the repo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demo has a follow-along or read-along page; no need to photograph slides.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github.com/thisismydemo/nic2026_azl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thisismydemo.cloud/nic2026_azl, in your own tenant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Infinite Improbability Corp (IIC) wants Azure Local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job, the two-node lab reached remotely, and the exact release it runs.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Infinite Improbability Corp (IIC)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Sized for the current release (12.2609), not the 2604 named in the session abstract: always size against the release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Everything shown is generally available, except simplified machine provisioning (preview): shown as an option, not how this cluster was built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 descr="The Voyage Chart: the whole session on one map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Build 1 4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Build 2 5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Build 3 6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Build 4 7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8" name="Build 5 8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Build 6 9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0" name="Build 7 10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Where the inventory comes from: RVTools or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5" name="Animation video 5" descr="Animation: Azure Migrate discovers a fictional VMware estate for migration to Azure Local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E7FCFB9230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6" name="Video frame 6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7" name="Line 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8" name="Node 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0" name="Node 1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2" name="Node 1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4" name="Node 1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6" name="Node 1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Assess and size it, live in Azure Local Surveyor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trip into the tool: what IIC runs, what's missing, does it fit.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Inventory in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What's missing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Add the new AVD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Size it, then take a node away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98F8FE"/>
                </a:solidFill>
                <a:latin typeface="Roboto"/>
                <a:cs typeface="Roboto"/>
              </a:rPr>
              <a:t>Inventory: 24 VMs, 72 vCPU, 160 GiB (RVTools import)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98F8FE"/>
                </a:solidFill>
                <a:latin typeface="Roboto"/>
                <a:cs typeface="Roboto"/>
              </a:rPr>
              <a:t>Missing: 2 legacy VMs, no dependency data: an assumption, not a fact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98F8FE"/>
                </a:solidFill>
                <a:latin typeface="Roboto"/>
                <a:cs typeface="Roboto"/>
              </a:rPr>
              <a:t>Plus AVD: 31 VMs, 104 vCPU, 272 GiB. Fits 512 GiB on paper, not one 256 GiB node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98F8FE"/>
                </a:solidFill>
                <a:latin typeface="Roboto"/>
                <a:cs typeface="Roboto"/>
              </a:rPr>
              <a:t>So we adjust: right-size from P95, migrate in waves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What we buy and how it is wired: two nodes, switched storage, cloud witness</a:t>
            </a:r>
          </a:p>
        </p:txBody>
      </p:sp>
      <p:pic>
        <p:nvPicPr>
          <p:cNvPr id="3" name="Chart 3" descr="What we buy and how it is wired: two nodes, switched storage, cloud witness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pic>
        <p:nvPicPr>
          <p:cNvPr id="4" name="Chart 4" descr="Demo: Network ATC intent design, preferably intentional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pic>
        <p:nvPicPr>
          <p:cNvPr id="3" name="Chart 3" descr="Identity, landing zone and naming: future you has to read this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exports the design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all tiers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Azure Backup Server or a partner product; Site Recovery for tier 1,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15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Arc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pic>
        <p:nvPicPr>
          <p:cNvPr id="5" name="Chart 5" descr="Building the ship: Beacon sounds the harbour, two routes to Arc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YAML design file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Deployment time-lapsed, Sonar watching the logs, the intents live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15 minutes; Deploy about 2.5 hours for two nodes (ours: 2 h 11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Making it seaworthy: Monitor, the lookout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pic>
        <p:nvPicPr>
          <p:cNvPr id="5" name="Chart 5" descr="Making it seaworthy: Monitor, the lookout and the bill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Who updates what, and 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pic>
        <p:nvPicPr>
          <p:cNvPr id="4" name="Chart 4" descr="Who updates what, and backup versus DR: hope has no RPO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Access and the security baseline: PIM, Policy, Defender, Sentinel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Access is eligible, not standing; the security baseline runs as production.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PIM: eligible, not standing; activation with justification and MFA; the audit entry is the evidence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Policy at subscription scope: audit, not block; tags inherited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Defender for Cloud: CSPM, Servers P2, Storage, Key Vault, Resource Manager, the cluster and every Arc-enabled VM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Sentinel on its own workspace: Defender for Cloud, Azure Activity, Entra ID, Windows Security Events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pic>
        <p:nvPicPr>
          <p:cNvPr id="4" name="Chart 4" descr="The workload platform: six logical networks, a rule book each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cargo, and where it runs: fixed volumes, repair reserve, two-VM SOFS</a:t>
            </a:r>
          </a:p>
        </p:txBody>
      </p:sp>
      <p:pic>
        <p:nvPicPr>
          <p:cNvPr id="3" name="Chart 3" descr="Storage for the cargo, and where it runs: fixed volumes, repair reserve, two-VM SOFS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Build 1 4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Loading the cargo: replicate, migrate, verify, complete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5" name="Animation video 5" descr="Animation: one wave of fictional VMware VMs replicated, migrated, verified and completed on Azure Local with Azure Migrate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E7FCFB9230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6" name="Video frame 6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7" name="Line 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8" name="Node 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0" name="Node 1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2" name="Node 1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4" name="Node 14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6" name="Node 1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a drive retired by software, and the agent that investigates it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evidence; the Observability Agent (preview) investigates the same...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98F8FE"/>
                </a:solidFill>
                <a:latin typeface="Roboto"/>
                <a:cs typeface="Roboto"/>
              </a:rPr>
              <a:t>Preview: the Observability Agent investigates the alert; plan shown, not confirmed (a deep investigation is billed)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Intent drift remediated: configuration drift is a fault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live incident in the network failure domain: symptom, diagnostic evidence, response, outcome.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compute adapter no longer matches its intent (JumboPacket)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C3FBFE"/>
                </a:solidFill>
                <a:latin typeface="Roboto"/>
                <a:cs typeface="Roboto"/>
              </a:rPr>
              <a:t>Get-NetIntentStatus shows the drift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Network ATC remediates on its next pass, which we force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Outcome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the intent back to Success; the undo script only if ATC did not put it back, and we say so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A node lost with quorum intact: restart, then resync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n unplanned node failure on a two-node Azure Local instance with fictional names, following Microsoft Learn: quorum kept, VMs restarted on the surviving node, volumes online on one copy, alerts, the node's return and the storage resync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E7FCFB9230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Planned Site Recovery failover: the lifeboat drill, and where it landed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a planned failover proven by the application, not by a VM appearing in Azure.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VM (Standard security type) → Site Recovery agent on each node → Azure managed disks and VNet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Site Recovery extension for Azure Local is preview on Learn; Trusted launch VMs are not supported as a source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The voyage in one slide: every decision now running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pic>
        <p:nvPicPr>
          <p:cNvPr id="4" name="Chart 4" descr="The voyage in one slide: every decision now runni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You may also like: more voyages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Behind the Patch: 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Questions, and your feedback</a:t>
            </a:r>
          </a:p>
        </p:txBody>
      </p:sp>
      <p:pic>
        <p:nvPicPr>
          <p:cNvPr id="3" name="Chart 3" descr="Questions, and your feedback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Appendix: one GPU per node, DDA for one AVD host, and what it does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Partitioning or passthrough is decided per workload.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028825"/>
        </p:xfrm>
        <a:graphic>
          <a:graphicData uri="http://schemas.openxmlformats.org/drawingml/2006/table">
            <a:tbl>
              <a:tblPr firstRow="1"/>
              <a:tblGrid>
                <a:gridCol w="1708030"/>
                <a:gridCol w="3260785"/>
                <a:gridCol w="3260785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DDA (passthrough)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GPU partitioning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What the VM gets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whole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slice of the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for DDA and the data center driver (compute and AI); desktop graphics acceleration needs NVIDIA vWS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NVIDIA vGPU software (vApps, vPC or vWS)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migration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No: restarts on a node with a free GPU, or stays off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 with conditions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IIC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Yes: one L4 per node, one GPU session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 licence, not used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Appendix: Chart 10: VMware to Azure Local with Azure Migrate</a:t>
            </a:r>
          </a:p>
        </p:txBody>
      </p:sp>
      <p:pic>
        <p:nvPicPr>
          <p:cNvPr id="3" name="Chart 3" descr="Appendix: Chart 10: VMware to Azure Local with Azure Migrate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35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2026-10-14T20:05:28Z</dcterms:created>
  <dcterms:modified xsi:type="dcterms:W3CDTF">2026-10-14T20:05:28Z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