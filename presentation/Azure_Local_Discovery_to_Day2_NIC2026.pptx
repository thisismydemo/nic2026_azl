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729984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1671" y="6729984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83341" y="6729984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25012" y="6729984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66683" y="6729984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708354" y="6729984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450024" y="6729984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 Cloud: Plan, Deploy, and Operate Azure Local from Discovery to Day 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Kristopher Turner · NIC 2026 · Thu 15 Oct, 09:50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job: IIC wants Azure Local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Workshop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15341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4602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1917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5079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4340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817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4078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393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Day-2 ready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84555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3816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131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74293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35540" y="1965960"/>
            <a:ext cx="157734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08692" y="1965960"/>
            <a:ext cx="143103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Failover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Fictional customer: IIC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From the first workshop to the first failover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ship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two-node validated system, reached remotely.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x AX-760 nodes, switch pair, firewall pair, console server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in the room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reached remotely over a VPN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map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three phases laid over the engineer's lifecycle.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Charting the course · Building the ship · Making it seaworthy · Loading the cargo · Weathering the storm · Safe harbour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Versions and support boundaries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is GA, what is preview, and which release this is.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Abstract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sizing against 2604. Cluster: 12.2609.1003.7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simplified machine provisioning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tag and last validation date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Scale, repo and the guide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assessment inventory and the real cluster are different scales; everything is in the repo.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sizing story shows the method, not a promise that this cluster hosts that estate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and demo guide: read along, or follow along where it needs no cluster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Open — the voyage and the ship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1 · 12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Charting the course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 &amp; Discover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Discovery kick-off: the questions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empty cell in the questionnaire is a deployment failure later.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Tenant, identity, access, landing zone, automation, network, hardware, naming, workloads, continuity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Workload assessment: what to collect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Inventory, owners, criticality, dependencies, RPO/RTO.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RVTools from the VMware team, or Azure Migrate discovery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Both feed Azure Local Surveyor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Record missing evidence; do not invent it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Surveyor and the dependency gap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Allocation evidence is not a dependency map.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az-1-1-surveyor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Migrate discovery (recorded)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second route to the same evidence.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az-1-1-migrate-discovery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Sizing: demand to usable, with the reserve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Workload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32888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25496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98648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Growth headroom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09744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02352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Resiliency copies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86600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379208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Rebuild reserve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363456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56064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Usable capacity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Two-way mirror on two nodes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N-1 maintenance reserve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Release decision: latest supported at build time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fit and storage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fits only with a node unavailable and the reserve intact.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az-1-2-sizing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Hardware: validated, Premier or disaggregated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do we buy and who owns the firmware problem?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Decision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validated integrated system (two AX-760)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Outputs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bill of materials, firmware baseline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Topology and quorum, and Rack Aware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nodes, switched storage, cloud witness; Rack Aware is a different topology.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Two-way mirror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fault from zero redundancy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Rack Aware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chosen here, and not proven by this demo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Site assessment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failed prerequisite and its deployment consequence.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Power, cooling, cabling, out-of-band access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Connectivity and egress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Production recommendation, preview constraint and lab workaround kept apart.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Recommendation: Arc gateway or proxy plus Arc gateway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 constraint: the provisioning preview used here does not support the gateway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Lab: direct egress with the full allow-list (D-024)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Network ATC intent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the node ports become a supported network.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 intents: management, compute, storage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Dedicated VLANs; jumbo on storage; RDMA with PFC/ETS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25 GbE adapters link at 10 GbE on this switch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Identity and access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Identity with Key Vault, and who may do what.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Identity with Key Vault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domain join, no OU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2816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676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Windows Admin Center is not supported with this model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07680" y="2103120"/>
            <a:ext cx="350520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F5B84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36280" y="2377440"/>
            <a:ext cx="548640" cy="6400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6280" y="2606040"/>
            <a:ext cx="304800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Groups, Azure RBAC, PIM eligibility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Landing zone and naming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Where the cluster lives, who pays, what governs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subscription under the landing-zones management group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Naming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nic26 site token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Business continuity and operations requirements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RPO/RTO per tier and the operating requirements decided now.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Backup for all tiers; Site Recovery for tier 1 with a quarterly test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scope and cost ceiling; maintenance windows; update ownership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Design package and the go/no-go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 is the input file for Deploy.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decision is a value in the deployment config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Charting the course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2 · 9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Building the ship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</a:t>
            </a:r>
            <a:endParaRPr lang="en-US" sz="2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foundation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landing zone as Bicep, idempotent.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Resource groups, providers, workspace, Key Vault, witness, spoke, tags, budgets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Site readiness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Firmware, switches, firewall, OS, validated by the Environment Checker.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Environment Checker before anyone registers a node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Simplified machine provisioning (preview)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Virtual media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0210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9471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786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Ownership voucher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817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4078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1393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Claim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794242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86850" y="1965960"/>
            <a:ext cx="2526030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60002" y="1965960"/>
            <a:ext cx="2379726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Ready to cluster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Preview alternative. This hardware is outside the supported list. Not the recommendation.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Trace one setting through every layer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infrastructure.yml, Bicep parameter, portal field, result, validation.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the what-if cannot validate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the what-if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Read-only preview of the deployment package.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az-2-4-whatif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deployment, time-lapsed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Honest durations; the Resource Bridge step alone is 40 to 45 minutes.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Identity bootstrap: node in WORKGROUP, secrets in the vault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Network ATC intents, running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design from 1.7 is now the network.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az-2-5-intents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Post-deployment validation, then 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healthy deployment is not a Day-2-ready platform.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az-2-6-validate-red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Building the ship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3 · 11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Making it seaworthy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Day-2 Ready</a:t>
            </a:r>
            <a:endParaRPr lang="en-US" sz="2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Monitoring and the cost decision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DCR is the cost decision.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Health, storage, intents, cluster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the firehose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DCRs do not control every ingestion source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Insights and the DCR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Insights; inspect existing telemetry.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az-3-1-insights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Update management: who updates what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update planes, two owners; Windows 11 is a third.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Cluster: Lifecycle Manager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Guests: Azure Update Manager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11 clients: Intune or Windows Update for Business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patch run is shown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Backup and DR setup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Backup is recovery in hours; Site Recovery is continuity in minutes.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Backup as the worked example; any backup solution applies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RBAC with Entra PIM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Eligible, not standing, with an audit trail.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az-3-4-pim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and governance baseline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initiative carries the hybrid baseline.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Compliance evaluation is not instant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Workload platform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Images, logical networks, storage paths: the targets for migration and VM lifecycle.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Acceptance: the readiness gate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Operational acceptance is verified controls, not configured ones.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Configured · Pending evidence · Verified · Failed · Not applicable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Making it seaworthy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3B · 3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Loading the cargo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Migrate</a:t>
            </a:r>
            <a:endParaRPr lang="en-US" sz="2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Migrate: loading the cargo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Assessed, migrated, operated: one inventory through the lifecycle.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Prepare, discover, target appliance on the cluster, replicate, migrate, verify, complete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3B Loading the cargo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4 · 15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Weathering the storm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Day-2 Operations</a:t>
            </a:r>
            <a:endParaRPr lang="en-US" sz="2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Lifecycle Manager: one update train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Discover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32888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25496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98648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Download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09744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02352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 check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86600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379208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Update node by node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363456" y="2651760"/>
            <a:ext cx="265176" cy="0"/>
          </a:xfrm>
          <a:prstGeom prst="line">
            <a:avLst/>
          </a:prstGeom>
          <a:noFill/>
          <a:ln w="31750">
            <a:solidFill>
              <a:srgbClr val="6CC3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56064" y="1965960"/>
            <a:ext cx="1956816" cy="1371600"/>
          </a:xfrm>
          <a:prstGeom prst="roundRect">
            <a:avLst>
              <a:gd name="adj" fmla="val 5333"/>
            </a:avLst>
          </a:prstGeom>
          <a:solidFill>
            <a:srgbClr val="212B45"/>
          </a:solidFill>
          <a:ln w="15875">
            <a:solidFill>
              <a:srgbClr val="6CC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965960"/>
            <a:ext cx="1810512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precheck that blocks progress; the decision to proceed or stop; post-update evidence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Live: readiness and history, then the recording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Why the run itself is recorded.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az-4-1-lcm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Fault diagnosis: the shape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Symptom, signal, differential diagnosis, action, recovery evidence.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Recovery is the repair finished and redundancy restored, not a cleared alert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Fault 1: drive (software-induced, live)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drive fault read from Azure Monitor and storage health.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Software-induced: an administrative retire, not a physical failure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Fault 2: intent drift (live)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Configuration drift is a fault the platform remediates.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az-4-2-drift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Fault 3: node failure (recorded incident)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the ops team sees first; not run live.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live: no redundancy to spare, and the BMC path may share the VPN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Capacity: a decision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Healthy-state and node-loss headroom; one workload rejected.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Adding a third node changes resiliency and intents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VM lifecycle through Arc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 2 for workloads is Azure.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az-4-4-arc-vm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Planned ASR failover: 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5B84B"/>
          </a:solidFill>
          <a:ln w="12700">
            <a:solidFill>
              <a:srgbClr val="F5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42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Source, replication path, Azure target; the job starts now and may not land in time.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A0E18"/>
          </a:solidFill>
          <a:ln w="19050">
            <a:solidFill>
              <a:srgbClr val="F5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2000" dirty="0">
                <a:solidFill>
                  <a:srgbClr val="7BD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Completion is not guaranteed during the talk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Weathering the storm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50815" cy="12801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41671" y="0"/>
            <a:ext cx="1750815" cy="128016"/>
          </a:xfrm>
          <a:prstGeom prst="rect">
            <a:avLst/>
          </a:prstGeom>
          <a:solidFill>
            <a:srgbClr val="FFA94D"/>
          </a:solidFill>
          <a:ln w="12700">
            <a:solidFill>
              <a:srgbClr val="FFA9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83341" y="0"/>
            <a:ext cx="1750815" cy="128016"/>
          </a:xfrm>
          <a:prstGeom prst="rect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25012" y="0"/>
            <a:ext cx="1750815" cy="128016"/>
          </a:xfrm>
          <a:prstGeom prst="rect">
            <a:avLst/>
          </a:prstGeom>
          <a:solidFill>
            <a:srgbClr val="8CE99A"/>
          </a:solidFill>
          <a:ln w="12700">
            <a:solidFill>
              <a:srgbClr val="8CE9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66683" y="0"/>
            <a:ext cx="1750815" cy="128016"/>
          </a:xfrm>
          <a:prstGeom prst="rect">
            <a:avLst/>
          </a:prstGeom>
          <a:solidFill>
            <a:srgbClr val="66D9E8"/>
          </a:solidFill>
          <a:ln w="12700">
            <a:solidFill>
              <a:srgbClr val="66D9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08354" y="0"/>
            <a:ext cx="1750815" cy="128016"/>
          </a:xfrm>
          <a:prstGeom prst="rect">
            <a:avLst/>
          </a:prstGeom>
          <a:solidFill>
            <a:srgbClr val="74C0FC"/>
          </a:solidFill>
          <a:ln w="12700">
            <a:solidFill>
              <a:srgbClr val="74C0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0024" y="0"/>
            <a:ext cx="1750815" cy="128016"/>
          </a:xfrm>
          <a:prstGeom prst="rect">
            <a:avLst/>
          </a:prstGeom>
          <a:solidFill>
            <a:srgbClr val="B197FC"/>
          </a:solidFill>
          <a:ln w="12700">
            <a:solidFill>
              <a:srgbClr val="B197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Section 5 · 5 min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Safe harbour</a:t>
            </a:r>
            <a:endParaRPr lang="en-US" sz="4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Safe harbour: the failover result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Inspect the landed job, or play the labelled recording.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it did not land: labelled recorded completed failover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 the loops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decision made in section 1 is now running.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Node back and resynced; VM created; policy compliance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voyage in one slide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2926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lifecycle with our artefact at each phase.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Take-home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Exactly what the abstract promised.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Bicep deployment package and infrastructure.yml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Policy initiative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Day-2 operations runbook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Update Manager maintenance configuration templates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Monitor DCRs and alert rules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Planning artefacts and handouts; the demo guide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Yesterday and today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Yesterday's AVD session used this same cluster as one of three realms.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6CC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77440"/>
            <a:ext cx="548640" cy="64008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Yesterday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AVD Anywhere on this cluster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182034"/>
          </a:solidFill>
          <a:ln w="25400">
            <a:solidFill>
              <a:srgbClr val="7BD8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377440"/>
            <a:ext cx="548640" cy="64008"/>
          </a:xfrm>
          <a:prstGeom prst="rect">
            <a:avLst/>
          </a:prstGeom>
          <a:solidFill>
            <a:srgbClr val="7BD88F"/>
          </a:solidFill>
          <a:ln w="12700">
            <a:solidFill>
              <a:srgbClr val="7BD8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6060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7BD88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Today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the cluster was planned, deployed and operated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 may also like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other NIC 2026 sessions that complement this 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Dear AI Agent: The Servers Are On-Prem. Good Luck (Jan Egil Ring, L400)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Beyond the Basics: What-If for Deployment Stacks &amp; AI-Assisted Bicep (Torrey Trahanovsky, L300)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Who Broke Production? Ask the Agent (Marius Sandbu, L400)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CC3FF"/>
          </a:solidFill>
          <a:ln w="12700">
            <a:solidFill>
              <a:srgbClr val="6CC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6CC3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Questions in the hallway; the repo is yours.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297680"/>
          </a:xfrm>
          <a:prstGeom prst="roundRect">
            <a:avLst>
              <a:gd name="adj" fmla="val 1702"/>
            </a:avLst>
          </a:prstGeom>
          <a:solidFill>
            <a:srgbClr val="182034"/>
          </a:solidFill>
          <a:ln w="12700">
            <a:solidFill>
              <a:srgbClr val="334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9EEF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 and demo guide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Safe harbour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PptxGenJS</dc:creator>
  <cp:lastModifiedBy>PptxGenJS</cp:lastModifiedBy>
  <cp:revision>1</cp:revision>
  <dcterms:created xsi:type="dcterms:W3CDTF">2026-10-06T13:19:29Z</dcterms:created>
  <dcterms:modified xsi:type="dcterms:W3CDTF">2026-10-06T13:19:29Z</dcterms:modified>
</cp:coreProperties>
</file>