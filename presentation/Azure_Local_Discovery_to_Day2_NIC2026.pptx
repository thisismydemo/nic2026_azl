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-1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5-1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12-1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16-1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21-1.pn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22-1.pn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7-1.png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8-1.png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900" dirty="0"/>
              <a:t>Hybrid Cloud: Plan, Deploy, and Operate Azure Local from Discovery to Day 2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Thu 15 Oct, 09:50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IIC wants Azure Local: the ship, and the versions on board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job, a two-node validated system reached remotely, and the exact release it runs: a lab smaller than the real thing, with...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Fictional customer: IIC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2 x AX-760 nodes, switch pair, firewall pair, console server; reached remotely over a VPN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Azure Local 12.2609.1003.7 (OS 26100.33438): the latest at build time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Abstract: sizing against 2604. On stage: sizing against whatever is current when you deploy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Preview on stage: simplified machine provisioning (a feature, not the release)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Repo tag and last validation date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The Voyage Chart: the whole session on one map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7" name="Node 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9" name="Node 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1" name="Node 1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3" name="Node 1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Five tools along the course: assess, design, check, provision, listen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owner's tool family, each at its step on the chart, and which beats are live, recorded or yours to follow along.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498598"/>
        </p:xfrm>
        <a:graphic>
          <a:graphicData uri="http://schemas.openxmlformats.org/drawingml/2006/table">
            <a:tbl>
              <a:tblPr firstRow="1"/>
              <a:tblGrid>
                <a:gridCol w="1189822"/>
                <a:gridCol w="1090670"/>
                <a:gridCol w="3569465"/>
                <a:gridCol w="2379643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Tool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What it does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On stage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Surveyor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1.1–1.2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Assess the estate and size the cluster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Live, follow-along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Trailwright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1.12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Design record, validation, infrastructure.yml export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Live, follow-along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Beacon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Pre-deployment check from virtual media, before any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Recorded, 30 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ZTP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2.3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Provision the machines (simplified provisioning, preview)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Recorded, 30 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Sonar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2.4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Watch Validate and Deploy, step by step, with the logs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 on the deployed cluster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Charting the course: kick-off, assessment and what it cannot see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CHARTING THE COURSE  ·  SECTION 1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Two routes to the same evidence: what each finds, what each misses, and which output enters the design package.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000" dirty="0"/>
              <a:t>Tenant, identity, access, landing zone, automation, network, hardware, naming, workloads, continuity</a:t>
            </a:r>
          </a:p>
          <a:p>
            <a:pPr>
              <a:spcBef>
                <a:spcPts val="700"/>
              </a:spcBef>
            </a:pPr>
            <a:r>
              <a:rPr lang="en-US" sz="2000" dirty="0"/>
              <a:t>RVTools from the VMware team, or Azure Migrate discovery</a:t>
            </a:r>
          </a:p>
          <a:p>
            <a:pPr>
              <a:spcBef>
                <a:spcPts val="700"/>
              </a:spcBef>
            </a:pPr>
            <a:r>
              <a:rPr lang="en-US" sz="2000" dirty="0"/>
              <a:t>Both feed Azure Local Surveyor</a:t>
            </a:r>
          </a:p>
          <a:p>
            <a:pPr>
              <a:spcBef>
                <a:spcPts val="700"/>
              </a:spcBef>
            </a:pPr>
            <a:r>
              <a:rPr lang="en-US" sz="2000" dirty="0"/>
              <a:t>Record missing evidence; do not invent it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CHARTING THE COURSE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00" dirty="0"/>
              <a:t>Sizing: usable capacity, minus wishful thinking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Demand, resiliency, node-loss reserve, growth, usable.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Workload demand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Growth headroom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Resiliency copies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Rebuild reserve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Usable capacity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Two-way mirror on two nodes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N-1 maintenance reserve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Release decision: latest supported at build time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Hardware paths, topology and quorum: count votes, not hopes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Existing hardware or new purchase: discover the whole site, verify support and map observed server/fabric evidence into the...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Decision: validated integrated system (two AX-760)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Two-way mirror: one fault from zero redundancy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Inventory: servers, NIC ports/MACs, drives/controllers, boot media; ToR/OOB switches, firewall, uplinks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Outputs: provenance, supported hardware/firmware review, approved JSON-to-YAML mapping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Rack Aware: not chosen here, and not proven by this demo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One node plus the witness lost: quorum lost, cluster offline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Site and connectivity: a failed prerequisite has a price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 failed prerequisite and its deployment consequence.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700" dirty="0"/>
              <a:t>Management, compute, storage and OOB paths; gateways, DNS/NTP, routing, egress and return path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Full sanitized ToR/OOB/firewall exports; VLANs, ports, trunks, MTU, ACLs and NAT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Recommendation: Arc gateway (new deployments on 2506 or later; it cannot be enabled afterwards) or proxy plus Arc gateway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Preview constraint: the provisioning preview used here does not support the gateway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Lab: direct egress with the full allow-list (D-024)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Demo: Network ATC intent design, preferably intentional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VLAN isolation and physical convergence are separate decisions; reviewed site evidence maps to approved Network ATC intents.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91259"/>
            <a:ext cx="262128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11299"/>
            <a:ext cx="243840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Three intents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management, compute, storage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691259"/>
            <a:ext cx="262128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011299"/>
            <a:ext cx="243840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Management/compute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same VLAN, separate VLANs on shared adapters, or dedicated adapters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691259"/>
            <a:ext cx="262128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011299"/>
            <a:ext cx="243840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Read back the approved choice; map ports/MACs, tagging, MTU and storage/RDMA requirements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Identity, landing zone and naming: future you has to read this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Local Identity with Key Vault, and who may do what.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00" dirty="0"/>
              <a:t>Local Identity with Key Vault: no domain join, no OU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Dedicated subscription under the landing-zones management group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Supported with this model: Azure portal, PowerShell, Azure Monitor. Not Windows Admin Center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Naming: nic26 site token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Groups, Azure RBAC, PIM eligibility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Continuity, then the go/no-go: Trailwright turns the design into infrastructure.yml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RPO/RTO per tier and the operating requirements decided now.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Backup for all tiers; Site Recovery for tier 1 with a quarterly test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Monitoring scope and cost ceiling; maintenance windows; update ownership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Trailwright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design record, validated, one bad value caught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Export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infrastructure.yml and a Bicep starting point; a handoff, not the deployment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Building the ship: Beacon sounds the harbour, two routes to an Arc-registered machine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BUILDING THE SHIP  ·  SECTION 2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Foundation and site checks first, Beacon before any OS; then the machines get an OS and Arc by one of two routes, and the preview...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Foundation: resource groups, providers, workspace, Key Vault, witness, spoke, tags, budgets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Beacon before any OS: target disk, network, DNS, Azure endpoints (Environment Checker)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Route A, simplified machine provisioning (preview): Ready to cluster, then Deploy stopped on device-ID Arc names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Route B, image + drivers + Arc registration (GA): the event cluster; Arc names = host names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BUILDING THE SHIP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setting, every layer, and the what-if before the what-have-we-done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C3FBFE"/>
                </a:solidFill>
                <a:latin typeface="Roboto"/>
                <a:cs typeface="Roboto"/>
              </a:rPr>
              <a:t>The layers the setting passes through, then a read-only preview of the deployment package.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infrastructure.yml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Bicep parameter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Portal field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Deployment result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Validation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What the what-if cannot validate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deployment time-lapsed, Sonar listening beside it, and the intents running for real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Honest durations, and the real run's steps and logs beside them: the Resource Bridge step alone is 40 to 45 minutes.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Validate about 10 minutes; Deploy 2.5 to 3 hours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Sonar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every step, its status and duration, and the seed-node logs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Local Identity bootstrap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node in WORKGROUP, secrets in the vault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Post-deployment validation, then a little red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 healthy deployment is not a Day-2-ready platform.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Validate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Deliberate red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Fix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Green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5" name="Node 15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7" name="Node 17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9" name="Node 19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1" name="Node 21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3" name="Node 23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Making it seaworthy: Monitor, Heimdall and the bill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MAKING IT SEAWORTHY  ·  SECTION 3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 DCR is the cost decision.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Health, storage, intents, cluster: not the firehose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DCRs do not control every ingestion source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MAKING IT SEAWORTHY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Who updates what, and who told Windows 11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Two update planes, two owners; Windows 11 is a third.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813179"/>
            <a:ext cx="1920240" cy="22440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9960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133219"/>
            <a:ext cx="1737360" cy="18326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Cluster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Lifecycle Manager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813179"/>
            <a:ext cx="1920240" cy="22440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9960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133219"/>
            <a:ext cx="1737360" cy="18326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Guests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Azure Update Manager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813179"/>
            <a:ext cx="1920240" cy="22440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9960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133219"/>
            <a:ext cx="1737360" cy="18326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Windows 11 clients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Intune or Windows Update for Business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813179"/>
            <a:ext cx="1920240" cy="22440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9960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133219"/>
            <a:ext cx="1737360" cy="18326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No patch run is shown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Backup versus DR: hope has no RPO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98F8FE"/>
                </a:solidFill>
                <a:latin typeface="Roboto"/>
                <a:cs typeface="Roboto"/>
              </a:rPr>
              <a:t>Backup is recovery in hours; Site Recovery is continuity in minutes.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C3FBFE"/>
                </a:solidFill>
                <a:latin typeface="Roboto"/>
                <a:cs typeface="Roboto"/>
              </a:rPr>
              <a:t>Azure Backup as the worked example; any backup solution applies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Eligible, not standing; one initiative carries the security baseline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Access is eligible with an audit trail; the hybrid baseline is one policy initiative whose compliance is not instant.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PIM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eligible, not standing; activation with justification and MFA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Defender plans and the hybrid baseline initiative at the landing zone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Compliance evaluation is not instant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workload platform and the readiness gate: evidence, not hope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98F8FE"/>
                </a:solidFill>
                <a:latin typeface="Roboto"/>
                <a:cs typeface="Roboto"/>
              </a:rPr>
              <a:t>Images, logical networks, storage paths: the targets for migration and VM lifecycle.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C3FBFE"/>
                </a:solidFill>
                <a:latin typeface="Roboto"/>
                <a:cs typeface="Roboto"/>
              </a:rPr>
              <a:t>Configured · Pending evidence · Verified · Failed · Not applicable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Loading the cargo with Azure Migrate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LOADING THE CARGO  ·  SECTION 3B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Assessed, migrated, operated: one inventory through the lifecycle.</a:t>
            </a:r>
          </a:p>
        </p:txBody>
      </p:sp>
      <p:sp>
        <p:nvSpPr>
          <p:cNvPr id="6" name="Box 6"/>
          <p:cNvSpPr/>
          <p:nvPr/>
        </p:nvSpPr>
        <p:spPr>
          <a:xfrm>
            <a:off x="457200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Assess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132588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1581912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Replicate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245059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2706624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Test migrate</a:t>
            </a:r>
          </a:p>
        </p:txBody>
      </p:sp>
      <p:cxnSp>
        <p:nvCxnSpPr>
          <p:cNvPr id="11" name="Arrow 11"/>
          <p:cNvCxnSpPr/>
          <p:nvPr/>
        </p:nvCxnSpPr>
        <p:spPr>
          <a:xfrm>
            <a:off x="3575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2" name="Box 12"/>
          <p:cNvSpPr/>
          <p:nvPr/>
        </p:nvSpPr>
        <p:spPr>
          <a:xfrm>
            <a:off x="3831336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Cutover</a:t>
            </a:r>
          </a:p>
        </p:txBody>
      </p:sp>
      <p:cxnSp>
        <p:nvCxnSpPr>
          <p:cNvPr id="13" name="Arrow 13"/>
          <p:cNvCxnSpPr/>
          <p:nvPr/>
        </p:nvCxnSpPr>
        <p:spPr>
          <a:xfrm>
            <a:off x="470001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4" name="Box 14"/>
          <p:cNvSpPr/>
          <p:nvPr/>
        </p:nvSpPr>
        <p:spPr>
          <a:xfrm>
            <a:off x="4956048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Operate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640080" y="2752344"/>
            <a:ext cx="498348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Prepare, discover, target appliance on the cluster, replicate, migrate, verify, complete</a:t>
            </a:r>
          </a:p>
        </p:txBody>
      </p:sp>
      <p:sp>
        <p:nvSpPr>
          <p:cNvPr id="16" name="Opener frame 1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7" name="Leg chart 1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18" name="Text 1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LOADING THE CARGO</a:t>
            </a:r>
          </a:p>
        </p:txBody>
      </p:sp>
      <p:cxnSp>
        <p:nvCxnSpPr>
          <p:cNvPr id="19" name="Line 1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20" name="Node 2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2" name="Node 2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4" name="Node 2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6" name="Node 26"/>
          <p:cNvSpPr/>
          <p:nvPr/>
        </p:nvSpPr>
        <p:spPr>
          <a:xfrm>
            <a:off x="5801868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8" name="Node 28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30" name="Node 3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1" name="Text 3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Weathering the storm: Lifecycle Manager, one update train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WEATHERING THE STORM  ·  SECTION 4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C3FBFE"/>
                </a:solidFill>
                <a:latin typeface="Roboto"/>
                <a:cs typeface="Roboto"/>
              </a:rPr>
              <a:t>Entry conditions for the operating loop, then one update train with readiness checks before and after.</a:t>
            </a:r>
          </a:p>
        </p:txBody>
      </p:sp>
      <p:sp>
        <p:nvSpPr>
          <p:cNvPr id="6" name="Box 6"/>
          <p:cNvSpPr/>
          <p:nvPr/>
        </p:nvSpPr>
        <p:spPr>
          <a:xfrm>
            <a:off x="457200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Discover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132588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1581912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Download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245059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2706624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Health check</a:t>
            </a:r>
          </a:p>
        </p:txBody>
      </p:sp>
      <p:cxnSp>
        <p:nvCxnSpPr>
          <p:cNvPr id="11" name="Arrow 11"/>
          <p:cNvCxnSpPr/>
          <p:nvPr/>
        </p:nvCxnSpPr>
        <p:spPr>
          <a:xfrm>
            <a:off x="3575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2" name="Box 12"/>
          <p:cNvSpPr/>
          <p:nvPr/>
        </p:nvSpPr>
        <p:spPr>
          <a:xfrm>
            <a:off x="3831336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Update node by node</a:t>
            </a:r>
          </a:p>
        </p:txBody>
      </p:sp>
      <p:cxnSp>
        <p:nvCxnSpPr>
          <p:cNvPr id="13" name="Arrow 13"/>
          <p:cNvCxnSpPr/>
          <p:nvPr/>
        </p:nvCxnSpPr>
        <p:spPr>
          <a:xfrm>
            <a:off x="470001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4" name="Box 14"/>
          <p:cNvSpPr/>
          <p:nvPr/>
        </p:nvSpPr>
        <p:spPr>
          <a:xfrm>
            <a:off x="4956048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Validate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640080" y="2752344"/>
            <a:ext cx="498348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 precheck that blocks progress; the decision to proceed or stop; post-update evidence</a:t>
            </a:r>
          </a:p>
        </p:txBody>
      </p:sp>
      <p:sp>
        <p:nvSpPr>
          <p:cNvPr id="16" name="Opener frame 1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7" name="Leg chart 1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18" name="Text 1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WEATHERING THE STORM</a:t>
            </a:r>
          </a:p>
        </p:txBody>
      </p:sp>
      <p:cxnSp>
        <p:nvCxnSpPr>
          <p:cNvPr id="19" name="Line 1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20" name="Node 2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2" name="Node 2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4" name="Node 2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6" name="Node 26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8" name="Node 28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30" name="Node 3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1" name="Text 3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Fault diagnosis: the shape, and a drive retired by software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Symptom, signal, differential diagnosis, action, recovery evidence.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Symptom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Signal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Diagnosis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Action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Recovery evidence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Recovery is the repair finished and redundancy restored, not a cleared alert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Software-induced: an administrative retire, not a physical failure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Does not test: physical failure signals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Intent drift remediated, and a node lost with quorum intact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98F8FE"/>
                </a:solidFill>
                <a:latin typeface="Roboto"/>
                <a:cs typeface="Roboto"/>
              </a:rPr>
              <a:t>Two incidents, two failure domains: symptom, diagnostic evidence, response, outcome.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C3FBFE"/>
                </a:solidFill>
                <a:latin typeface="Roboto"/>
                <a:cs typeface="Roboto"/>
              </a:rPr>
              <a:t>Not live: no redundancy to spare, and the BMC path may share the VPN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Capacity is a decision; the VM lifecycle runs through Arc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Constraint, admission decision, VM action, resulting capacity state.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Capacity constraint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Admission decision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VM action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Resulting headroom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Adding a third node changes resiliency and intents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50" dirty="0"/>
              <a:t>Planned Site Recovery failover: a small Ragnarok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Source, replication path, Azure target; the job starts now and may not land in time.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Source cluster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Replication path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Azure target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Failover job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Completion is not guaranteed during the talk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Local integration with Site Recovery: confirm its status on the day (Learn lists it as preview)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Safe harbour: the failover result, not just relief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SAFE HARBOUR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700784"/>
            <a:ext cx="53492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A1B1B"/>
                </a:solidFill>
                <a:latin typeface="Roboto"/>
                <a:cs typeface="Roboto"/>
              </a:rPr>
              <a:t>Inspect the landed job, or play the labelled recording.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3392424"/>
            <a:ext cx="516636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193233"/>
                </a:solidFill>
                <a:latin typeface="Roboto"/>
                <a:cs typeface="Roboto"/>
              </a:rPr>
              <a:t>If it did not land: labelled recorded completed failover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SAFE HARBOUR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2" name="Node 1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4" name="Node 1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6" name="Node 16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8" name="Node 18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0" name="Node 2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voyage in one slide: every decision now running, and the cargo you take home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7" name="Node 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9" name="Node 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1" name="Node 1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3" name="Node 1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5" name="Node 15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You may also like: more sagas worth your time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Three other NIC 2026 sessions that complement this one.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Behind the Patch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A Deep Dive into Azure Update Manager (Wim Matthyssen, L400, Thu 11:10 am, Room 2)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Migrating from VMWare to Azure Local with Azure Migrate (Jan-Tore Pedersen, L300, Thu 1:00 pm, Room 2)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Who Broke Production? Ask the Agent (Marius Sandbu, L400, Thu 3:40 pm, Room 3)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1A1B1B"/>
                </a:solidFill>
                <a:latin typeface="Roboto"/>
                <a:cs typeface="Roboto"/>
              </a:rPr>
              <a:t>Times are Oslo time. Rooms can change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check the NIC agenda.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Voyage complete. Day 2 never ends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A1B1B"/>
                </a:solidFill>
                <a:latin typeface="Roboto"/>
                <a:cs typeface="Roboto"/>
              </a:rPr>
              <a:t>Questions in the hallway; the repo is yours.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193233"/>
                </a:solidFill>
                <a:latin typeface="Roboto"/>
                <a:cs typeface="Roboto"/>
              </a:rPr>
              <a:t>Repo and demo guide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30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Azure Local, Discovery to Day 2</dc:title>
  <dc:subject>Hybrid Cloud: Plan, Deploy, and Operate Azure Local from Discovery to Day 2</dc:subject>
  <dc:creator>Kristopher Turner</dc:creator>
  <cp:lastModifiedBy>Kristopher Turner</cp:lastModifiedBy>
  <cp:revision>1</cp:revision>
  <dcterms:created xsi:type="dcterms:W3CDTF">2026-10-11T16:35:36Z</dcterms:created>
  <dcterms:modified xsi:type="dcterms:W3CDTF">2026-10-11T16:35:36Z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