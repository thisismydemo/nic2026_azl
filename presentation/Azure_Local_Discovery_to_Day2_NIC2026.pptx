
<file path=[Content_Types].xml><?xml version="1.0" encoding="utf-8"?>
<Types xmlns="http://schemas.openxmlformats.org/package/2006/content-types">
  <Default Extension="mp4" ContentType="video/mp4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  <p:sldId id="286" r:id="rId1031"/>
    <p:sldId id="287" r:id="rId1032"/>
    <p:sldId id="288" r:id="rId1033"/>
    <p:sldId id="289" r:id="rId1034"/>
    <p:sldId id="290" r:id="rId1035"/>
    <p:sldId id="291" r:id="rId1036"/>
    <p:sldId id="292" r:id="rId1037"/>
    <p:sldId id="293" r:id="rId1038"/>
    <p:sldId id="294" r:id="rId1039"/>
    <p:sldId id="295" r:id="rId1040"/>
    <p:sldId id="296" r:id="rId1041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Relationship Id="rId1032" Type="http://schemas.openxmlformats.org/officeDocument/2006/relationships/slide" Target="slides/slide32.xml"/><Relationship Id="rId1033" Type="http://schemas.openxmlformats.org/officeDocument/2006/relationships/slide" Target="slides/slide33.xml"/><Relationship Id="rId1034" Type="http://schemas.openxmlformats.org/officeDocument/2006/relationships/slide" Target="slides/slide34.xml"/><Relationship Id="rId1035" Type="http://schemas.openxmlformats.org/officeDocument/2006/relationships/slide" Target="slides/slide35.xml"/><Relationship Id="rId1036" Type="http://schemas.openxmlformats.org/officeDocument/2006/relationships/slide" Target="slides/slide36.xml"/><Relationship Id="rId1037" Type="http://schemas.openxmlformats.org/officeDocument/2006/relationships/slide" Target="slides/slide37.xml"/><Relationship Id="rId1038" Type="http://schemas.openxmlformats.org/officeDocument/2006/relationships/slide" Target="slides/slide38.xml"/><Relationship Id="rId1039" Type="http://schemas.openxmlformats.org/officeDocument/2006/relationships/slide" Target="slides/slide39.xml"/><Relationship Id="rId1040" Type="http://schemas.openxmlformats.org/officeDocument/2006/relationships/slide" Target="slides/slide40.xml"/><Relationship Id="rId1041" Type="http://schemas.openxmlformats.org/officeDocument/2006/relationships/slide" Target="slides/slide4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2-1.png"/><Relationship Id="rId101" Type="http://schemas.openxmlformats.org/officeDocument/2006/relationships/image" Target="../media/gen-s2-2.png"/><Relationship Id="rId102" Type="http://schemas.openxmlformats.org/officeDocument/2006/relationships/image" Target="../media/gen-s2-3.png"/><Relationship Id="rId103" Type="http://schemas.openxmlformats.org/officeDocument/2006/relationships/image" Target="../media/gen-s2-4.png"/><Relationship Id="rId104" Type="http://schemas.openxmlformats.org/officeDocument/2006/relationships/image" Target="../media/gen-s2-5.png"/><Relationship Id="rId105" Type="http://schemas.openxmlformats.org/officeDocument/2006/relationships/image" Target="../media/gen-s2-6.png"/><Relationship Id="rId106" Type="http://schemas.openxmlformats.org/officeDocument/2006/relationships/image" Target="../media/gen-s2-7.png"/><Relationship Id="rId107" Type="http://schemas.openxmlformats.org/officeDocument/2006/relationships/image" Target="../media/gen-s2-8.png"/><Relationship Id="rId108" Type="http://schemas.openxmlformats.org/officeDocument/2006/relationships/image" Target="../media/gen-s2-9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5-1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7-1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8-1.png"/><Relationship Id="rId300" Type="http://schemas.openxmlformats.org/officeDocument/2006/relationships/video" Target="../media/gen-s8-video1.mp4"/><Relationship Id="rId301" Type="http://schemas.microsoft.com/office/2007/relationships/media" Target="../media/gen-s8-video1.mp4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16-1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20-1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9-1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0-1.png"/><Relationship Id="rId300" Type="http://schemas.openxmlformats.org/officeDocument/2006/relationships/video" Target="../media/gen-s30-video1.mp4"/><Relationship Id="rId301" Type="http://schemas.microsoft.com/office/2007/relationships/media" Target="../media/gen-s30-video1.mp4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1-1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5-1.png"/><Relationship Id="rId300" Type="http://schemas.openxmlformats.org/officeDocument/2006/relationships/video" Target="../media/gen-s35-video1.mp4"/><Relationship Id="rId301" Type="http://schemas.microsoft.com/office/2007/relationships/media" Target="../media/gen-s35-video1.mp4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8-1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9-1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900" dirty="0"/>
              <a:t>Hybrid Cloud: Plan, Deploy, and Operate Azure Local from Discovery to Day 2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Thu 15 Oct, 09:50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 2"/>
          <p:cNvSpPr/>
          <p:nvPr/>
        </p:nvSpPr>
        <p:spPr>
          <a:xfrm>
            <a:off x="502920" y="411480"/>
            <a:ext cx="2286000" cy="2286000"/>
          </a:xfrm>
          <a:prstGeom prst="ellipse">
            <a:avLst/>
          </a:prstGeom>
          <a:noFill/>
          <a:ln w="50800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Headsho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4360" y="502920"/>
            <a:ext cx="2103120" cy="2103120"/>
          </a:xfrm>
          <a:prstGeom prst="ellipse">
            <a:avLst/>
          </a:prstGeom>
        </p:spPr>
      </p:pic>
      <p:sp>
        <p:nvSpPr>
          <p:cNvPr id="4" name="Title 4"/>
          <p:cNvSpPr>
            <a:spLocks noGrp="1"/>
          </p:cNvSpPr>
          <p:nvPr>
            <p:ph type="ctrTitle"/>
          </p:nvPr>
        </p:nvSpPr>
        <p:spPr>
          <a:xfrm>
            <a:off x="457200" y="2788920"/>
            <a:ext cx="3383280" cy="548640"/>
          </a:xfrm>
        </p:spPr>
        <p:txBody>
          <a:bodyPr anchor="ctr">
            <a:normAutofit/>
          </a:bodyPr>
          <a:lstStyle/>
          <a:p>
            <a:pPr algn="l"/>
            <a:r>
              <a:rPr lang="en-US" sz="2600" dirty="0"/>
              <a:t>Kristopher Turner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3364992"/>
            <a:ext cx="338328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rtlCol="0" anchor="t">
            <a:noAutofit/>
          </a:bodyPr>
          <a:lstStyle/>
          <a:p>
            <a:pPr/>
            <a:r>
              <a:rPr lang="en-US" sz="1300" i="1" dirty="0">
                <a:solidFill>
                  <a:srgbClr val="1A1B1B"/>
                </a:solidFill>
                <a:latin typeface="Roboto"/>
                <a:cs typeface="Roboto"/>
              </a:rPr>
              <a:t>Product Technology Architect</a:t>
            </a:r>
          </a:p>
          <a:p>
            <a:pPr>
              <a:spcBef>
                <a:spcPts val="200"/>
              </a:spcBef>
            </a:pPr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TierPoint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kris@hybridsolutions.cloud</a:t>
            </a:r>
          </a:p>
        </p:txBody>
      </p:sp>
      <p:sp>
        <p:nvSpPr>
          <p:cNvPr id="6" name="Credentials 6"/>
          <p:cNvSpPr/>
          <p:nvPr/>
        </p:nvSpPr>
        <p:spPr>
          <a:xfrm>
            <a:off x="3931920" y="36576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MVP 7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160520" y="502920"/>
            <a:ext cx="566928" cy="822960"/>
          </a:xfrm>
          <a:prstGeom prst="rect">
            <a:avLst/>
          </a:prstGeom>
        </p:spPr>
      </p:pic>
      <p:pic>
        <p:nvPicPr>
          <p:cNvPr id="8" name="MCT 8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4892040" y="521208"/>
            <a:ext cx="822960" cy="795528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852160" y="54864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Microsoft MVP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Microsoft Certified Trainer</a:t>
            </a:r>
          </a:p>
        </p:txBody>
      </p:sp>
      <p:pic>
        <p:nvPicPr>
          <p:cNvPr id="10" name="Badge 10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4114800" y="1463040"/>
            <a:ext cx="640080" cy="640080"/>
          </a:xfrm>
          <a:prstGeom prst="rect">
            <a:avLst/>
          </a:prstGeom>
        </p:spPr>
      </p:pic>
      <p:pic>
        <p:nvPicPr>
          <p:cNvPr id="11" name="Badge 11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4864608" y="1463040"/>
            <a:ext cx="640080" cy="640080"/>
          </a:xfrm>
          <a:prstGeom prst="rect">
            <a:avLst/>
          </a:prstGeom>
        </p:spPr>
      </p:pic>
      <p:pic>
        <p:nvPicPr>
          <p:cNvPr id="12" name="Badge 12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5614416" y="1463040"/>
            <a:ext cx="640080" cy="640080"/>
          </a:xfrm>
          <a:prstGeom prst="rect">
            <a:avLst/>
          </a:prstGeom>
        </p:spPr>
      </p:pic>
      <p:pic>
        <p:nvPicPr>
          <p:cNvPr id="13" name="Badge 13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6364224" y="1463040"/>
            <a:ext cx="640080" cy="640080"/>
          </a:xfrm>
          <a:prstGeom prst="rect">
            <a:avLst/>
          </a:prstGeom>
        </p:spPr>
      </p:pic>
      <p:pic>
        <p:nvPicPr>
          <p:cNvPr id="14" name="Badge 14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7114032" y="1463040"/>
            <a:ext cx="640080" cy="640080"/>
          </a:xfrm>
          <a:prstGeom prst="rect">
            <a:avLst/>
          </a:prstGeom>
        </p:spPr>
      </p:pic>
      <p:pic>
        <p:nvPicPr>
          <p:cNvPr id="15" name="Badge 15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863840" y="1463040"/>
            <a:ext cx="640080" cy="64008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4114800" y="2103120"/>
            <a:ext cx="4480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650" dirty="0">
                <a:solidFill>
                  <a:srgbClr val="2E4546"/>
                </a:solidFill>
                <a:latin typeface="Roboto"/>
                <a:cs typeface="Roboto"/>
              </a:rPr>
              <a:t>Solutions Architect Expert · Security Engineer · Administrator · Hybrid Administrator · AVD Specialty · Stack Hub Operator</a:t>
            </a:r>
          </a:p>
        </p:txBody>
      </p:sp>
      <p:sp>
        <p:nvSpPr>
          <p:cNvPr id="17" name="Icon 17"/>
          <p:cNvSpPr/>
          <p:nvPr/>
        </p:nvSpPr>
        <p:spPr>
          <a:xfrm>
            <a:off x="393192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X</a:t>
            </a:r>
          </a:p>
        </p:txBody>
      </p:sp>
      <p:sp>
        <p:nvSpPr>
          <p:cNvPr id="18" name="Handle 18"/>
          <p:cNvSpPr/>
          <p:nvPr/>
        </p:nvSpPr>
        <p:spPr>
          <a:xfrm>
            <a:off x="435254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19" name="Icon 19"/>
          <p:cNvSpPr/>
          <p:nvPr/>
        </p:nvSpPr>
        <p:spPr>
          <a:xfrm>
            <a:off x="393192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in</a:t>
            </a:r>
          </a:p>
        </p:txBody>
      </p:sp>
      <p:sp>
        <p:nvSpPr>
          <p:cNvPr id="20" name="Handle 20"/>
          <p:cNvSpPr/>
          <p:nvPr/>
        </p:nvSpPr>
        <p:spPr>
          <a:xfrm>
            <a:off x="435254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  <p:sp>
        <p:nvSpPr>
          <p:cNvPr id="21" name="Icon 21"/>
          <p:cNvSpPr/>
          <p:nvPr/>
        </p:nvSpPr>
        <p:spPr>
          <a:xfrm>
            <a:off x="3931920" y="34747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▶</a:t>
            </a:r>
          </a:p>
        </p:txBody>
      </p:sp>
      <p:sp>
        <p:nvSpPr>
          <p:cNvPr id="22" name="Handle 22"/>
          <p:cNvSpPr/>
          <p:nvPr/>
        </p:nvSpPr>
        <p:spPr>
          <a:xfrm>
            <a:off x="4352544" y="34747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23" name="Icon 23"/>
          <p:cNvSpPr/>
          <p:nvPr/>
        </p:nvSpPr>
        <p:spPr>
          <a:xfrm>
            <a:off x="635508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www</a:t>
            </a:r>
          </a:p>
        </p:txBody>
      </p:sp>
      <p:sp>
        <p:nvSpPr>
          <p:cNvPr id="24" name="Handle 24"/>
          <p:cNvSpPr/>
          <p:nvPr/>
        </p:nvSpPr>
        <p:spPr>
          <a:xfrm>
            <a:off x="677570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kristopherjturner.me</a:t>
            </a:r>
          </a:p>
        </p:txBody>
      </p:sp>
      <p:sp>
        <p:nvSpPr>
          <p:cNvPr id="25" name="Icon 25"/>
          <p:cNvSpPr/>
          <p:nvPr/>
        </p:nvSpPr>
        <p:spPr>
          <a:xfrm>
            <a:off x="635508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GH</a:t>
            </a:r>
          </a:p>
        </p:txBody>
      </p:sp>
      <p:sp>
        <p:nvSpPr>
          <p:cNvPr id="26" name="Handle 26"/>
          <p:cNvSpPr/>
          <p:nvPr/>
        </p:nvSpPr>
        <p:spPr>
          <a:xfrm>
            <a:off x="677570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57200" y="182880"/>
            <a:ext cx="8229600" cy="603504"/>
          </a:xfrm>
        </p:spPr>
        <p:txBody>
          <a:bodyPr anchor="ctr">
            <a:normAutofit/>
          </a:bodyPr>
          <a:lstStyle/>
          <a:p>
            <a:pPr algn="l"/>
            <a:r>
              <a:rPr lang="en-US" sz="2450" dirty="0"/>
              <a:t>Home port: Virginia, USA</a:t>
            </a:r>
          </a:p>
        </p:txBody>
      </p:sp>
      <p:sp>
        <p:nvSpPr>
          <p:cNvPr id="3" name="Montage placeholder 3"/>
          <p:cNvSpPr/>
          <p:nvPr/>
        </p:nvSpPr>
        <p:spPr>
          <a:xfrm>
            <a:off x="1483360" y="914400"/>
            <a:ext cx="6177280" cy="3474720"/>
          </a:xfrm>
          <a:prstGeom prst="rect">
            <a:avLst/>
          </a:prstGeom>
          <a:solidFill>
            <a:srgbClr val="1A1B1B"/>
          </a:solidFill>
          <a:ln w="31750">
            <a:solidFill>
              <a:srgbClr val="1A1B1B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98F8FE"/>
                </a:solidFill>
                <a:latin typeface="Roboto"/>
                <a:cs typeface="Roboto"/>
              </a:rPr>
              <a:t>Photo montage shown live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IIC wants Azure Local: the ship, and the versions on board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job, the two-node lab reached remotely, and the exact release it runs.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Fictional customer: IIC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2 x AX-760 nodes, switch pair, firewall pair, console server; reached remotely over a VPN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Azure Local 12.2609.1003.7 (OS 26100.33438): the latest at build time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Abstract: sizing against 2604. On stage: sizing against whatever is current when you deploy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Preview on stage: simplified machine provisioning (a feature, not the release)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Repo tag and last validation date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The Voyage Chart: the whole session on one map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7" name="Node 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9" name="Node 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1" name="Node 1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3" name="Node 1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Five tools along the course: assess, design, check, provision, listen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owner's tool family, each at its step on the chart, and which beats are live, recorded or yours to follow along.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189822"/>
                <a:gridCol w="1090670"/>
                <a:gridCol w="3569465"/>
                <a:gridCol w="2379643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Tool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What it does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On stage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Surveyor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1.1–1.2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Assess the estate and size the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Live, follow-along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Trailwright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1.12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Design record, validation, infrastructure.yml export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Live, follow-along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Beacon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Pre-deployment check from virtual media, before any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Recorded, 30 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ZTP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2.3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Provision the machines (simplified provisioning, preview)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Recorded, 30 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Sonar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2.4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Watch Validate and Deploy, step by step, with the logs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 replay of the recorded deployment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Charting the course: kick-off, assessment and what it cannot see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CHARTING THE COURSE  ·  SECTION 1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Two routes to the same evidence: what each finds, what each misses, and which output enters the design package.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Tenant, identity, access, landing zone, automation, network, hardware, naming, workloads, continuity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RVTools from the VMware team, or Azure Migrate discovery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Both feed Azure Local Surveyor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The workload: the IIC estate plus AVD on Azure Local (session hosts, SOFS profile shares)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Record missing evidence; do not invent it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CHARTING THE COURSE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Azure Migrate discovery: an inventory, not a dependency map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ANIMATION</a:t>
            </a:r>
          </a:p>
        </p:txBody>
      </p:sp>
      <p:pic>
        <p:nvPicPr>
          <p:cNvPr id="4" name="Animation video 4" descr="Animation: Azure Migrate discovers a fictional VMware estate for migration to Azure Local, following Microsoft Learn.">
            <a:hlinkClick r:id="" action="ppaction://media"/>
          </p:cNvPr>
          <p:cNvPicPr>
            <a:picLocks noChangeAspect="1"/>
          </p:cNvPicPr>
          <p:nvPr>
            <a:videoFile r:link="rId300"/>
            <p:extLst>
              <p:ext uri="{DAA4B4D4-6D71-4841-9C94-3DA8C0BE8E44}">
                <p14:media xmlns:p14="http://schemas.microsoft.com/office/powerpoint/2010/main" r:embed="rId301"/>
              </p:ext>
            </p:extLst>
          </p:nvPr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sp>
        <p:nvSpPr>
          <p:cNvPr id="5" name="Video frame 5"/>
          <p:cNvSpPr/>
          <p:nvPr/>
        </p:nvSpPr>
        <p:spPr>
          <a:xfrm>
            <a:off x="1548384" y="1097280"/>
            <a:ext cx="6047232" cy="3401568"/>
          </a:xfrm>
          <a:prstGeom prst="rect">
            <a:avLst/>
          </a:prstGeom>
          <a:noFill/>
          <a:ln w="1270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5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Sizing: usable capacity, minus wishful thinking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Demand (the IIC estate plus the AVD session hosts and SOFS nodes), resiliency, node-loss reserve, growth, usable.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Workload demand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Growth headroom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Resiliency copies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Rebuild reserve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Usable capacity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Demand: IIC estate + AVD session hosts + SOFS nodes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Two-way mirror on two nodes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N-1 maintenance reserve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Release decision: latest supported at build time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Hardware paths, topology and quorum: count votes, not hopes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The hardware path decides who owns firmware; the topology decides how many faults you survive.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Options: validated integrated system, Premier solution, disaggregated SAN-attached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Decision: validated integrated system (two AX-760), switched storage, cloud witness (required for two nodes)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Outputs: bill of materials and the firmware baseline (BIOS, BMC, NICs, drives, solution extension)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Two-way mirror: one fault from zero redundancy; one node plus the witness lost: cluster offline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Rack Aware Cluster: two zones of up to four machines, 1 ms or less between racks, new deployments only; not chosen here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GPU per node: DDA for one AVD host, and what it does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Partitioning or passthrough is decided per workload.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028825"/>
        </p:xfrm>
        <a:graphic>
          <a:graphicData uri="http://schemas.openxmlformats.org/drawingml/2006/table">
            <a:tbl>
              <a:tblPr firstRow="1"/>
              <a:tblGrid>
                <a:gridCol w="1708030"/>
                <a:gridCol w="3260785"/>
                <a:gridCol w="3260785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/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DDA (passthrough)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GPU partitioning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What the VM gets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whole GPU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 slice of the GPU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 for DDA and the data center driver (compute and AI); desktop graphics acceleration needs NVIDIA vWS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NVIDIA vGPU software (vApps, vPC or vWS)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 migration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No: restarts on a node with a free GPU, or stays off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Supported with conditions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IIC choice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Yes: one L4 per node, one GPU session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 licence, not used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Site and connectivity: a failed prerequisite has a price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 failed prerequisite and its deployment consequence.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Management, compute, storage and OOB paths; gateways, DNS/NTP, routing, egress and return path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Full sanitized ToR/OOB/firewall exports; VLANs, ports, trunks, MTU, ACLs and NAT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Recommendation: Arc gateway, fewer than 30 endpoints (new deployments on 2506 or later; it cannot be enabled afterwards), or proxy plus Arc gateway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Preview constraint: the simplified provisioning preview (2.3) does not support the gateway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Lab: direct egress with the full allow-list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Demo: Network ATC intent design, preferably intentional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VLAN isolation and physical convergence are separate decisions; reviewed site evidence maps to approved Network ATC intents.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Three intents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management, compute, storage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Management and compute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same VLAN, separate VLANs on shared adapters, or dedicated adapters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Read back the approved choice; map ports/MACs, tagging, MTU and storage/RDMA requirements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98F8FE"/>
                </a:solidFill>
                <a:latin typeface="Roboto"/>
                <a:cs typeface="Roboto"/>
              </a:rPr>
              <a:t>Workload VLANs follow the workloads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C3FBFE"/>
                </a:solidFill>
                <a:latin typeface="Roboto"/>
                <a:cs typeface="Roboto"/>
              </a:rPr>
              <a:t>2204 compute, 2215 AVD, 2216 SOFS, 2217 app, 2218 data, 2219 isolated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Identity, landing zone and naming: future you has to read this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Local Identity with Key Vault, and who may do what.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50" dirty="0"/>
              <a:t>Local Identity with Key Vault: no domain join, no OU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Workloads decide their own identity: the SOFS needs AD, so its VMs and the AVD hosts join AD; hybrid users synced by Microsoft Entra Cloud Sync, agent on its own member server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Dedicated subscription under the landing-zones management group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Supported with this model: Azure portal, PowerShell, Azure Monitor. Not Windows Admin Center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Naming: nic26 site token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Groups, Azure RBAC, PIM eligibility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Continuity, then the go/no-go: Trailwright exports the design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RPO/RTO per tier and the operating requirements decided now.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Backup for all tiers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C3FBFE"/>
                </a:solidFill>
                <a:latin typeface="Roboto"/>
                <a:cs typeface="Roboto"/>
              </a:rPr>
              <a:t>Azure Backup Server or a partner product; Site Recovery for tier 1, quarterly test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Monitoring scope and cost ceiling; maintenance windows; update ownership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Trailwright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design record, validated, one bad value caught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Export</a:t>
            </a:r>
          </a:p>
          <a:p>
            <a:pPr>
              <a:spcBef>
                <a:spcPts val="600"/>
              </a:spcBef>
            </a:pPr>
            <a:r>
              <a:rPr lang="en-US" sz="1150" dirty="0">
                <a:solidFill>
                  <a:srgbClr val="C3FBFE"/>
                </a:solidFill>
                <a:latin typeface="Roboto"/>
                <a:cs typeface="Roboto"/>
              </a:rPr>
              <a:t>infrastructure.yml and a Bicep starting point; a handoff, not the deployment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Building the ship: Beacon sounds the harbour, two routes to Arc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BUILDING THE SHIP  ·  SECTION 2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C3FBFE"/>
                </a:solidFill>
                <a:latin typeface="Roboto"/>
                <a:cs typeface="Roboto"/>
              </a:rPr>
              <a:t>Foundation and site checks first, Beacon before any OS; then an OS and Arc by one of two routes.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Foundation: resource groups, providers, workspace, Key Vault, witness, spoke, tags, budgets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Beacon before any OS: target disk, network, DNS, Azure endpoints (Environment Checker)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Route A, simplified machine provisioning (preview): Ready to cluster, then Deploy stopped on device-ID Arc names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Route B, image + drivers + Arc registration (GA): the event cluster; Arc names = host names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BUILDING THE SHIP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setting, every layer, and the what-if before the what-have-we-done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The layers the setting passes through, then a read-only preview of the deployment package.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YAML design file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Bicep parameter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Portal field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Deployment result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Validation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What the what-if cannot validate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deployment time-lapsed, Sonar listening beside it, and the intents running for real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Honest durations, and the real run's steps and logs beside them: the Resource Bridge step alone is 40 to 45 minutes.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Validate about 15 minutes; Deploy about 2.5 hours for two nodes (ours: 2 h 11 min)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Sonar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every step, its status and duration, and the seed-node logs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Local Identity bootstrap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node in WORKGROUP, secrets in the vault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Post-deployment validation, then a little red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 healthy deployment is not a Day-2-ready platform.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Validate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Deliberate red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Fix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Green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5" name="Node 15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7" name="Node 17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9" name="Node 19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1" name="Node 21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3" name="Node 23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Making it seaworthy: Monitor, Heimdall and the bill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MAKING IT SEAWORTHY  ·  SECTION 3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DCR is the cost decision.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00" dirty="0"/>
              <a:t>Lab workspace law-iic-nic26-eus-01: 30 days, 2 GB/day cap; security data in its own Sentinel workspace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Health, storage, intents, cluster: not the firehose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DCRs do not control every ingestion source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Preview: Azure Copilot Observability Agent investigates alerts on the same data; billed per use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MAKING IT SEAWORTHY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Who updates what, and who told Windows 11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Two update planes, two owners; Windows 11 is a third.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50" dirty="0"/>
              <a:t>Cluster: Lifecycle Manager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Guests: Azure Update Manager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Windows 11 clients (the AVD session hosts): Intune or Windows Update for Business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Maintenance window: Sunday 02:00 US Eastern, first run 18 Oct (after the event); dynamic scope by tag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No patch run is shown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Backup versus DR: hope has no RPO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Backup is recovery in hours; Site Recovery is continuity in minutes.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Azure Backup as the worked example; any backup solution applies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Restore tests land on the isolated network, never next to production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As built: vault and policies in place; Site Recovery replication not running (nodes not prepared; Trusted launch VMs are not supported as a source)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Eligible, not standing: access with an audit trail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Operators hold eligible roles, activate with justification and MFA, and every activation leaves an audit entry.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PIM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eligible, not standing; activation with justification and MFA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Local administrator, VM contributor and VM reader roles scoped to the landing zone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audit entry is the evidence, not the activation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Policy and Defender for Cloud: the security baseline as production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Policy audits and inherits tags at subscription scope; Defender for Cloud covers the cluster and every Arc-enabled VM on it.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Policy at subscription scope on both landing zones: audit, not block; tags inherited; activity log and security events to the Sentinel workspace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Defender CSPM, Defender for Servers P2, Storage, Key Vault, Resource Manager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Azure Local machines exempt from per-machine agent policy: the agent is a cluster extension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Compliance evaluation is not instant: show the existing result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Microsoft Sentinel: the security log gets its own workspace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193233"/>
                </a:solidFill>
                <a:latin typeface="Roboto"/>
                <a:cs typeface="Roboto"/>
              </a:rPr>
              <a:t>Sentinel on a dedicated workspace: four connectors and a starter set of analytics rules.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Dedicated workspace, 90 days, its own daily cap and alerts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Connectors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Defender for Cloud, Azure Activity, Microsoft Entra ID, Windows Security Events (AMA)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Analytics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starter rules plus Fusion and Defender incident creation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One incident, from alert to the entity, in one glance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workload platform: six logical networks, a rule book each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SDN enabled by Arc puts an NSG on every logical network, managed from Azure like the VMs.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8229600" cy="2758821"/>
        </p:xfrm>
        <a:graphic>
          <a:graphicData uri="http://schemas.openxmlformats.org/drawingml/2006/table">
            <a:tbl>
              <a:tblPr firstRow="1"/>
              <a:tblGrid>
                <a:gridCol w="2848708"/>
                <a:gridCol w="633046"/>
                <a:gridCol w="2057400"/>
                <a:gridCol w="2690446"/>
              </a:tblGrid>
              <a:tr h="29070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Logical network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VLAN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Workload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NSG admits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lnet-iic-nic26-compute-vlan2204-eus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2204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General VMs, demo and ASR source VMs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Admin (RDP, WinRM, SSH, ICMP), internal web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lnet-iic-nic26-avd-vlan2215-eus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2215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AVD session hosts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RDP Shortpath from P2S, break-glass RDP; never the data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lnet-iic-nic26-sofs-vlan2216-eus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2216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SOFS for FSLogix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SMB and SMB Witness from the AVD network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lnet-iic-nic26-app-vlan2217-eus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2217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IIC app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Web 80/443 from internal and P2S; admin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lnet-iic-nic26-data-vlan2218-eus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2218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IIC data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1433 from the app tier (and jump hosts); never initiates to desktops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29070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lnet-iic-nic26-isolated-vlan2219-eus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2219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Restore and migration tests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DNS and itself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</a:tbl>
          </a:graphicData>
        </a:graphic>
      </p:graphicFrame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Storage for the cargo: fixed volumes, repair reserve, two-VM SOFS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Four fixed two-way mirror volumes for every VM both sessions use.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508885"/>
        </p:xfrm>
        <a:graphic>
          <a:graphicData uri="http://schemas.openxmlformats.org/drawingml/2006/table">
            <a:tbl>
              <a:tblPr firstRow="1"/>
              <a:tblGrid>
                <a:gridCol w="1828800"/>
                <a:gridCol w="1676400"/>
                <a:gridCol w="2895600"/>
                <a:gridCol w="1828800"/>
              </a:tblGrid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Volume or service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Size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Holds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Storage path or check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vmstore-01 / vmstore-02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2.5 TiB each, fixed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session hosts, IIC VMs, demo and ASR VMs, images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per volume, plus one for images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sofs-01 / sofs-02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1.5 TiB each, fixed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SOFS VM each: OS + 4 × 256 GiB data disks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per volume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as built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nic26-sofs-cl, two VMs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two-way mirror FSLogixData 720 GiB; share \\nic26-sofs.azurelocal.mgmt\Profiles, continuously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44 of 44 read-back checks passed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Repair reserve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capacity drive per node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Never allocated: the drive fault repairs into it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—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The readiness gate: evidence, not hope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Operational acceptance is verified controls, not configured ones.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Configured · Pending evidence · Verified · Failed · Not applicable</a:t>
            </a:r>
          </a:p>
        </p:txBody>
      </p:sp>
      <p:sp>
        <p:nvSpPr>
          <p:cNvPr id="8" name="Card 8"/>
          <p:cNvSpPr/>
          <p:nvPr/>
        </p:nvSpPr>
        <p:spPr>
          <a:xfrm>
            <a:off x="466344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482803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75488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Platform validation and operational acceptance are separate gates</a:t>
            </a:r>
          </a:p>
        </p:txBody>
      </p:sp>
      <p:cxnSp>
        <p:nvCxnSpPr>
          <p:cNvPr id="11" name="Line 1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2" name="Node 1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4" name="Node 14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6" name="Node 16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8" name="Node 18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0" name="Node 20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Loading the cargo with Azure Migrate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LOADING THE CARGO  ·  SECTION 3B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Assessed, migrated, operated: one inventory through the lifecycle, one wave at a time.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Replicate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60705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186309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Migrate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0129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26898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Verify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441883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467487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Complete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49834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1A1B1B"/>
                </a:solidFill>
                <a:latin typeface="Roboto"/>
                <a:cs typeface="Roboto"/>
              </a:rPr>
              <a:t>Waves from the complexity scores: what depends on each other moves together, one change window per wave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1A1B1B"/>
                </a:solidFill>
                <a:latin typeface="Roboto"/>
                <a:cs typeface="Roboto"/>
              </a:rPr>
              <a:t>Wave 1: iic-app-01 and iic-app-02 (app tier), iic-sql-01 (data tier)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1A1B1B"/>
                </a:solidFill>
                <a:latin typeface="Roboto"/>
                <a:cs typeface="Roboto"/>
              </a:rPr>
              <a:t>Batches of up to 10 VMs; verify before Complete migration; the source VM is the rollback</a:t>
            </a:r>
          </a:p>
        </p:txBody>
      </p:sp>
      <p:sp>
        <p:nvSpPr>
          <p:cNvPr id="13" name="Opener frame 13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4" name="Leg chart 14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15" name="Text 15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LOADING THE CARGO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01868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Replicate, migrate, verify, complete: Azure Migrate to Azure Local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ANIMATION</a:t>
            </a:r>
          </a:p>
        </p:txBody>
      </p:sp>
      <p:pic>
        <p:nvPicPr>
          <p:cNvPr id="4" name="Animation video 4" descr="Animation: one wave of fictional VMware VMs replicated, migrated, verified and completed on Azure Local with Azure Migrate, following Microsoft Learn.">
            <a:hlinkClick r:id="" action="ppaction://media"/>
          </p:cNvPr>
          <p:cNvPicPr>
            <a:picLocks noChangeAspect="1"/>
          </p:cNvPicPr>
          <p:nvPr>
            <a:videoFile r:link="rId300"/>
            <p:extLst>
              <p:ext uri="{DAA4B4D4-6D71-4841-9C94-3DA8C0BE8E44}">
                <p14:media xmlns:p14="http://schemas.microsoft.com/office/powerpoint/2010/main" r:embed="rId301"/>
              </p:ext>
            </p:extLst>
          </p:nvPr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sp>
        <p:nvSpPr>
          <p:cNvPr id="5" name="Video frame 5"/>
          <p:cNvSpPr/>
          <p:nvPr/>
        </p:nvSpPr>
        <p:spPr>
          <a:xfrm>
            <a:off x="1548384" y="1097280"/>
            <a:ext cx="6047232" cy="3401568"/>
          </a:xfrm>
          <a:prstGeom prst="rect">
            <a:avLst/>
          </a:prstGeom>
          <a:noFill/>
          <a:ln w="1270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01868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5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Weathering the storm: Lifecycle Manager, one update train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WEATHERING THE STORM  ·  SECTION 4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Entry conditions for the operating loop, then one update train with readiness checks before and after.</a:t>
            </a:r>
          </a:p>
        </p:txBody>
      </p:sp>
      <p:sp>
        <p:nvSpPr>
          <p:cNvPr id="6" name="Box 6"/>
          <p:cNvSpPr/>
          <p:nvPr/>
        </p:nvSpPr>
        <p:spPr>
          <a:xfrm>
            <a:off x="457200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Discover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132588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1581912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Download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245059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2706624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Health check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3575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2" name="Box 12"/>
          <p:cNvSpPr/>
          <p:nvPr/>
        </p:nvSpPr>
        <p:spPr>
          <a:xfrm>
            <a:off x="3831336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Update node by node</a:t>
            </a:r>
          </a:p>
        </p:txBody>
      </p:sp>
      <p:cxnSp>
        <p:nvCxnSpPr>
          <p:cNvPr id="13" name="Arrow 13"/>
          <p:cNvCxnSpPr/>
          <p:nvPr/>
        </p:nvCxnSpPr>
        <p:spPr>
          <a:xfrm>
            <a:off x="470001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4" name="Box 14"/>
          <p:cNvSpPr/>
          <p:nvPr/>
        </p:nvSpPr>
        <p:spPr>
          <a:xfrm>
            <a:off x="4956048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1A1B1B"/>
                </a:solidFill>
                <a:latin typeface="Roboto"/>
                <a:cs typeface="Roboto"/>
              </a:rPr>
              <a:t>Validate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40080" y="2752344"/>
            <a:ext cx="49834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A precheck that blocks progress; the decision to proceed or stop; post-update evidence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Under the storm: the AVD session hosts, the SOFS profile shares and the IIC tiers</a:t>
            </a:r>
          </a:p>
        </p:txBody>
      </p:sp>
      <p:sp>
        <p:nvSpPr>
          <p:cNvPr id="16" name="Opener frame 1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7" name="Leg chart 1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WEATHERING THE STORM</a:t>
            </a:r>
          </a:p>
        </p:txBody>
      </p:sp>
      <p:cxnSp>
        <p:nvCxnSpPr>
          <p:cNvPr id="19" name="Line 1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20" name="Node 2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2" name="Node 2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4" name="Node 2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6" name="Node 26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8" name="Node 28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30" name="Node 3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3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Fault diagnosis: the shape, and a drive retired by software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Symptom, signal, differential diagnosis, action, recovery evidence.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Symptom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Signal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Diagnosis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Action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Recovery evidence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Recovery is the repair finished and redundancy restored, not a cleared alert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Software-induced: an administrative retire, not a physical failure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Does not test: physical failure signals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agent proposes, the engineer decides: one investigation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The Observability Agent (preview) takes the signal and the diagnosis steps; recovery evidence is still the repair finished.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Preview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Azure Copilot Observability Agent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Alert from the rehearsal run of the same fault, labelled with its date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600" b="1" dirty="0">
                <a:solidFill>
                  <a:srgbClr val="98F8FE"/>
                </a:solidFill>
                <a:latin typeface="Roboto"/>
                <a:cs typeface="Roboto"/>
              </a:rPr>
              <a:t>Plan shown, not confirmed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confirmed deep investigation is billed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500" b="1" dirty="0">
                <a:solidFill>
                  <a:srgbClr val="98F8FE"/>
                </a:solidFill>
                <a:latin typeface="Roboto"/>
                <a:cs typeface="Roboto"/>
              </a:rPr>
              <a:t>Saved investigation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affected components, ruled-out hypotheses, next steps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Intent drift remediated: configuration drift is a fault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C3FBFE"/>
                </a:solidFill>
                <a:latin typeface="Roboto"/>
                <a:cs typeface="Roboto"/>
              </a:rPr>
              <a:t>One live incident in the network failure domain: symptom, diagnostic evidence, response, outcome.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Symptom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compute adapter no longer matches its intent (JumboPacket)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Signal</a:t>
            </a:r>
          </a:p>
          <a:p>
            <a:pPr>
              <a:spcBef>
                <a:spcPts val="600"/>
              </a:spcBef>
            </a:pPr>
            <a:r>
              <a:rPr lang="en-US" sz="1350" dirty="0">
                <a:solidFill>
                  <a:srgbClr val="C3FBFE"/>
                </a:solidFill>
                <a:latin typeface="Roboto"/>
                <a:cs typeface="Roboto"/>
              </a:rPr>
              <a:t>Get-NetIntentStatus shows the drift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Action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Network ATC remediates on its next pass, which we force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Outcome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C3FBFE"/>
                </a:solidFill>
                <a:latin typeface="Roboto"/>
                <a:cs typeface="Roboto"/>
              </a:rPr>
              <a:t>the intent back to Success; the undo script only if ATC did not put it back, and we say so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A node lost with quorum intact: restart, then resync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ANIMATION</a:t>
            </a:r>
          </a:p>
        </p:txBody>
      </p:sp>
      <p:pic>
        <p:nvPicPr>
          <p:cNvPr id="4" name="Animation video 4" descr="Animation: an unplanned node failure on a two-node Azure Local instance with fictional names, following Microsoft Learn: quorum kept, VMs restarted on the surviving node, volumes online on one copy, alerts, the node's return and the storage resync.">
            <a:hlinkClick r:id="" action="ppaction://media"/>
          </p:cNvPr>
          <p:cNvPicPr>
            <a:picLocks noChangeAspect="1"/>
          </p:cNvPicPr>
          <p:nvPr>
            <a:videoFile r:link="rId300"/>
            <p:extLst>
              <p:ext uri="{DAA4B4D4-6D71-4841-9C94-3DA8C0BE8E44}">
                <p14:media xmlns:p14="http://schemas.microsoft.com/office/powerpoint/2010/main" r:embed="rId301"/>
              </p:ext>
            </p:extLst>
          </p:nvPr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sp>
        <p:nvSpPr>
          <p:cNvPr id="5" name="Video frame 5"/>
          <p:cNvSpPr/>
          <p:nvPr/>
        </p:nvSpPr>
        <p:spPr>
          <a:xfrm>
            <a:off x="1548384" y="1097280"/>
            <a:ext cx="6047232" cy="3401568"/>
          </a:xfrm>
          <a:prstGeom prst="rect">
            <a:avLst/>
          </a:prstGeom>
          <a:noFill/>
          <a:ln w="1270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5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Capacity is a decision; the VM lifecycle runs through Arc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Constraint, admission decision, VM action, resulting capacity state.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Capacity constraint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Admission decision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VM action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Resulting headroom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Adding a third node changes resiliency and intents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50" dirty="0"/>
              <a:t>Planned Site Recovery failover: a small Ragnarok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Source, replication path, Azure target; a planned failover proven by the application, not by a VM appearing in Azure.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Source cluster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Replication path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Azure target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Failover job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Completion is not guaranteed during the talk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Site Recovery extension for Azure Local is preview on Learn; Trusted launch VMs are not supported as a source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Safe harbour: the failover result, not just relief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SAFE HARBOUR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700784"/>
            <a:ext cx="53492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Inspect the landed job, or play the labelled recording.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3392424"/>
            <a:ext cx="516636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If it did not land: the labelled recording; if nothing replicated: what would prove it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SAFE HARBOUR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2" name="Node 1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4" name="Node 1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6" name="Node 16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8" name="Node 18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0" name="Node 2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The voyage in one slide: every decision now running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7" name="Node 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9" name="Node 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1" name="Node 1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3" name="Node 1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5" name="Node 15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You may also like: more sagas worth your time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Three other NIC 2026 sessions that complement this one.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Behind the Patch: A Deep Dive into Azure Update Manager (Wim Matthyssen, L400, Thu 11:10 am, Room 2)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Migrating from VMWare to Azure Local with Azure Migrate (Jan-Tore Pedersen, L300, Thu 1:00 pm, Room 2)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Who Broke Production? Ask the Agent (Marius Sandbu, L400, Thu 3:40 pm, Room 3)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Times are Oslo time; rooms can change, so check the NIC agenda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Voyage complete. Day 2 never ends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Questions in the hallway; the repo is yours.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193233"/>
                </a:solidFill>
                <a:latin typeface="Roboto"/>
                <a:cs typeface="Roboto"/>
              </a:rPr>
              <a:t>github.com/thisismydemo/nic2026_azl · thisismydemo.cloud/nic2026_azl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41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 Local, Discovery to Day 2</dc:title>
  <dc:subject>Hybrid Cloud: Plan, Deploy, and Operate Azure Local from Discovery to Day 2</dc:subject>
  <dc:creator>Kristopher Turner</dc:creator>
  <cp:lastModifiedBy>Kristopher Turner</cp:lastModifiedBy>
  <cp:revision>1</cp:revision>
  <dcterms:created xsi:type="dcterms:W3CDTF">2026-10-13T13:43:46Z</dcterms:created>
  <dcterms:modified xsi:type="dcterms:W3CDTF">2026-10-13T13:43:46Z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