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5-1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7-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5-1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9-1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8-1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9-1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5-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6-1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900" dirty="0"/>
              <a:t>Hybrid Cloud: Plan, Deploy, and Operate Azure Local from Discovery to Day 2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Thu 15 Oct, 09:50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port: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1483360" y="914400"/>
            <a:ext cx="6177280" cy="347472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IIC wants Azure Local: the ship, and the versions on board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job, a two-node validated system reached remotely, and the exact release it runs: a lab smaller than the real thing, with...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Fictional customer: IIC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2 x AX-760 nodes, switch pair, firewall pair, console server; reached remotely over a VPN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Azure Local 12.2609.1003.7 (OS 26100.33438): the latest at build time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Abstract: sizing against 2604. On stage: sizing against whatever is current when you deploy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on stage: simplified machine provisioning (a feature, not the release)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Repo tag and last validation date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The Voyage Chart: the whole session on one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Five tools along the course: assess, design, check, provision, listen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owner's tool family, each at its step on the chart, and which beats are live, recorded or yours to follow along.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189822"/>
                <a:gridCol w="1090670"/>
                <a:gridCol w="3569465"/>
                <a:gridCol w="2379643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Tool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What it does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On stage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Surveyor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1.1–1.2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Assess the estate and size the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Trailwright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Design record, validation, infrastructure.yml export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Beacon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Pre-deployment check from virtual media, before any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ZTP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2.3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Provision the machines (simplified provisioning,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Sonar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Watch Validate and Deploy, step by step, with the logs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replay of the recorded deployment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Charting the course: kick-off, assessment and what it cannot see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CHARTING THE COURSE  ·  SECTION 1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Two routes to the same evidence: what each finds, what each misses, and which output enters the design package.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Tenant, identity, access, landing zone, automation, network, hardware, naming, workloads, continuity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RVTools from the VMware team, or Azure Migrate discovery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Both feed Azure Local Surveyor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The workload: the IIC estate plus AVD on Azure Local (session hosts, SOFS profile shares)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Record missing evidence; do not invent it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CHARTING THE COURSE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Sizing: usable capacity, minus wishful thinking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Demand (the IIC estate plus the AVD session hosts and SOFS nodes), resiliency, node-loss reserve, growth, usable.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Workload demand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Growth headroom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Resiliency copies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Rebuild reserve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Usable capacity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Demand: IIC estate + AVD session hosts + SOFS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Two-way mirror on two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N-1 maintenance reserve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Release decision: latest supported at build time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Hardware paths, topology and quorum: count votes, not hopes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Existing hardware or new purchase: discover the whole site, verify support and map observed server/fabric evidence into the...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Decision: validated integrated system (two AX-760)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Two-way mirror: one fault from zero redundancy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Inventory: servers, NIC ports/MACs, drives/controllers, boot media; ToR/OOB switches, firewall, uplinks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Outputs: provenance, supported hardware/firmware review, approved JSON-to-YAML mapping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Rack Aware: not chosen here, and not proven by this demo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One node plus the witness lost: quorum lost, cluster offline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GPU per node: DDA for one AVD host, and what it does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Partitioning or passthrough is decided per workload.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188845"/>
        </p:xfrm>
        <a:graphic>
          <a:graphicData uri="http://schemas.openxmlformats.org/drawingml/2006/table">
            <a:tbl>
              <a:tblPr firstRow="1"/>
              <a:tblGrid>
                <a:gridCol w="1708030"/>
                <a:gridCol w="3260785"/>
                <a:gridCol w="3260785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/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DDA (passthrough)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GPU partitioning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What the VM gets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whole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slice of the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 for DDA and the data center driver (compute and AI); desktop graphics acceleration needs NVIDIA vWS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NVIDIA vGPU software (vApps, vPC or vWS)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migration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No: restarts on a node with a free GPU, or stays off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Supported with conditions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IIC choice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Yes: one L4 per node, one GPU session host (D-051)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 licence, not used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Site and connectivity: a failed prerequisite has a price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 failed prerequisite and its deployment consequence.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700" dirty="0"/>
              <a:t>Management, compute, storage and OOB paths; gateways, DNS/NTP, routing, egress and return path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Full sanitized ToR/OOB/firewall exports; VLANs, ports, trunks, MTU, ACLs and NAT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Recommendation: Arc gateway (new deployments on 2506 or later; it cannot be enabled afterwards) or proxy plus Arc gateway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Preview constraint: the provisioning preview used here does not support the gateway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Lab: direct egress with the full allow-list (D-024)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Demo: Network ATC intent design, preferably intentional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VLAN isolation and physical convergence are separate decisions; reviewed site evidence maps to approved Network ATC intents.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intents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management, compute, storage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Management/compute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same VLAN, separate VLANs on shared adapters, or dedicated adapters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Read back the approved choice; map ports/MACs, tagging, MTU and storage/RDMA requirements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98F8FE"/>
                </a:solidFill>
                <a:latin typeface="Roboto"/>
                <a:cs typeface="Roboto"/>
              </a:rPr>
              <a:t>Workload VLANs follow the workloads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2204 compute, 2215 AVD, 2216 SOFS, 2217 app, 2218 data, 2219 isolated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Identity, landing zone and naming: future you has to read this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Local Identity with Key Vault, and who may do what.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50" dirty="0"/>
              <a:t>Local Identity with Key Vault: no domain join, no OU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Workloads decide their own identity: the SOFS needs AD, so its VMs and the AVD hosts join AD; hybrid users synced by Microsoft Entra Cloud Sync, agent on its own member server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Dedicated subscription under the landing-zones management group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Supported with this model: Azure portal, PowerShell, Azure Monitor. Not Windows Admin Center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Naming: nic26 site token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Groups, Azure RBAC, PIM eligibility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Continuity, then the go/no-go: Trailwright turns the design into infrastructure.yml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RPO/RTO per tier and the operating requirements decided now.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Backup for all tiers; Site Recovery for tier 1 with a quarterly test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Monitoring scope and cost ceiling; maintenance windows; update ownership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Trailwright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design record, validated, one bad value caught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Export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infrastructure.yml and a Bicep starting point; a handoff, not the deployment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Building the ship: Beacon sounds the harbour, two routes to an Arc-registered machine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BUILDING THE SHIP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Foundation and site checks first, Beacon before any OS; then the machines get an OS and Arc by one of two routes, and the preview...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Foundation: resource groups, providers, workspace, Key Vault, witness, spoke, tags, budgets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Beacon before any OS: target disk, network, DNS, Azure endpoints (Environment Checker)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A, simplified machine provisioning (preview): Ready to cluster, then Deploy stopped on device-ID Arc names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B, image + drivers + Arc registration (GA): the event cluster; Arc names = host names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BUILDING THE SHIP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setting, every layer, and the what-if before the what-have-we-done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The layers the setting passes through, then a read-only preview of the deployment package.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infrastructure.yml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Bicep parameter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Portal field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Deployment result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What the what-if cannot validate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deployment time-lapsed, Sonar listening beside it, and the intents running for real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Honest durations, and the real run's steps and logs beside them: the Resource Bridge step alone is 40 to 45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Validate about 10 minutes; Deploy 2.5 to 3 hours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Sonar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step, its status and duration, and the seed-node logs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Local Identity bootstrap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node in WORKGROUP, secrets in the vault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Post-deployment validation, then a little red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healthy deployment is not a Day-2-ready platform.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Validate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Deliberate red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Fix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Green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Making it seaworthy: Monitor, Heimdall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MAKING IT SEAWORTHY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DCR is the cost decision.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Lab workspace law-iic-nic26-eus-01: 30 days, 2 GB/day cap; security data in its own Sentinel workspace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Health, storage, intents, cluster: not the firehose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DCRs do not control every ingestion source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Preview: Azure Copilot Observability Agent investigates alerts on the same data; billed per use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MAKING IT SEAWORTHY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Who updates what, and who told Windows 11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update planes, two owners; Windows 11 is a third.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50" dirty="0"/>
              <a:t>Cluster: Lifecycle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Guests: Azure Update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Windows 11 clients (the AVD session hosts): Intune or Windows Update for Business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Maintenance window: Sunday 02:00 US Eastern, first run 18 Oct (after the event); dynamic scope by tag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No patch run is shown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Backup versus DR: hope has no RPO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Backup is recovery in hours; Site Recovery is continuity in minutes.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Azure Backup as the worked example; any backup solution applies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Restore tests land on the isolated network, never next to production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As built: vault and policies in place; Site Recovery replication waits (node preparation needs approval; Trusted launch VMs are not supported)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Eligible, not standing: access with an audit trail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Operators hold eligible roles, activate with justification and MFA, and every activation leaves an audit entry.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PIM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eligible, not standing; activation with justification and MFA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administrator, VM contributor and VM reader roles scoped to the landing zone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audit entry is the evidence, not the activation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policy set, Defender for Cloud on everything: the security baseline as production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Policy audits and inherits tags at subscription scope; Defender for Cloud covers the cluster and every Arc-enabled VM on it.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Policy at subscription scope on both landing zones: audit, not block; tags inherited; activity log and security events to the Sentinel workspace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Defender CSPM, Defender for Servers P2, Storage, Key Vault, Resource Manager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Azure Local machines exempt from per-machine agent policy: the agent is a cluster extension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Compliance evaluation is not instant: show the existing result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Microsoft Sentinel: the security log gets its own workspace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Sentinel on a dedicated workspace with the Defender for Cloud, Azure Activity, Entra ID and Windows Security Events connectors...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Dedicated workspace, 90 days, its own daily cap and alerts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Connectors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Defender for Cloud, Azure Activity, Microsoft Entra ID, Windows Security Events (AMA)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Analytics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starter rules plus Fusion and Defender incident creation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One incident, from alert to the entity, in one glance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workload platform: six logical networks, a rule book each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SDN enabled by Arc puts an NSG on every logical network, managed from Azure like the VMs.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758821"/>
        </p:xfrm>
        <a:graphic>
          <a:graphicData uri="http://schemas.openxmlformats.org/drawingml/2006/table">
            <a:tbl>
              <a:tblPr firstRow="1"/>
              <a:tblGrid>
                <a:gridCol w="2848708"/>
                <a:gridCol w="633046"/>
                <a:gridCol w="2057400"/>
                <a:gridCol w="2690446"/>
              </a:tblGrid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Logical network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VLAN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Workload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NSG admits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lnet-iic-nic26-compute-vlan2204-eus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2204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General VMs, demo and ASR source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Admin (RDP, WinRM, SSH, ICMP), internal web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lnet-iic-nic26-avd-vlan2215-eus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AVD session hosts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RDP Shortpath from P2S, break-glass RDP; never the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lnet-iic-nic26-sofs-vlan2216-eus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2216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SOFS for FSLogix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SMB and SMB Witness from the AVD network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lnet-iic-nic26-app-vlan2217-eus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2217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app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Web 80/443 from internal and P2S; admin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lnet-iic-nic26-data-vlan2218-eus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2218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1433 from the app tier (and jump hosts); never initiates to desktops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lnet-iic-nic26-isolated-vlan2219-eus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2219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Restore and migration tests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DNS and itself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Storage for the cargo: fixed volumes, a repair reserve and a two-VM SOFS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Four fixed two-way mirror volumes sized for every VM both sessions use; one drive per node never allocated; the SOFS as two VMs,...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508885"/>
        </p:xfrm>
        <a:graphic>
          <a:graphicData uri="http://schemas.openxmlformats.org/drawingml/2006/table">
            <a:tbl>
              <a:tblPr firstRow="1"/>
              <a:tblGrid>
                <a:gridCol w="1828800"/>
                <a:gridCol w="1676400"/>
                <a:gridCol w="2895600"/>
                <a:gridCol w="1828800"/>
              </a:tblGrid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Volume or service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Size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Holds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Storage path or check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vmstore-01 / vmstore-02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session hosts, IIC VMs, demo and ASR VMs,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volume, plus one for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sofs-01 / sofs-02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SOFS VM each: OS + 4 × 256 GB data disks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as built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nic26-sofs-cl, two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two-way mirror FSLogixData 720 GiB; share \\nic26-sofs.azurelocal.mgmt\Profiles, continuously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44 of 44 read-back checks passed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Repair reserve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capacity drive per node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Never allocated: the drive fault repairs into it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The readiness gate: evidence, not hope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Operational acceptance is verified controls, not configured ones.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Configured · Pending evidence · Verified · Failed · Not applicable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Platform validation and operational acceptance are separate gates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4" name="Node 14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6" name="Node 16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8" name="Node 18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0" name="Node 20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Loading the cargo with Azure Migrate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LOADING THE CARGO  ·  SECTION 3B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Assessed, migrated, operated: one inventory through the lifecycle.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Assess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Test migrate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Cutover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Operate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Prepare, discover, target appliance on the cluster, replicate, migrate, verify, complete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LOADING THE CARGO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Weathering the storm: Lifecycle Manager, one update train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WEATHERING THE STORM  ·  SECTION 4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Entry conditions for the operating loop, then one update train with readiness checks before and after.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Discover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Download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Health check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Update node by node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A precheck that blocks progress; the decision to proceed or stop; post-update evidence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Under the storm: the AVD session hosts, the SOFS profile shares and the IIC tiers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WEATHERING THE STORM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Fault diagnosis: the shape, and a drive retired by software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Symptom, signal, differential diagnosis, action, recovery evidence.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Diagnosis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Recovery evidence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Recovery is the repair finished and redundancy restored, not a cleared alert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Software-induced: an administrative retire, not a physical failure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Does not test: physical failure signals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agent proposes, the engineer decides: an investigation from the rehearsal run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The Observability Agent (preview) takes the signal and the diagnosis steps; recovery evidence is still the repair finished.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Preview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 Copilot Observability Agent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Alert from the rehearsal run of the same fault, labelled with its date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98F8FE"/>
                </a:solidFill>
                <a:latin typeface="Roboto"/>
                <a:cs typeface="Roboto"/>
              </a:rPr>
              <a:t>Plan shown, not confirmed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confirmed deep investigation is billed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Saved investigation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affected components, ruled-out hypotheses, next steps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Intent drift remediated, and a node lost with quorum intact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incidents, two failure domains: symptom, diagnostic evidence, response, outcome.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064639"/>
            <a:ext cx="402336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384679"/>
            <a:ext cx="384048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Not 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 redundancy to spare, and the BMC path may share the VPN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064639"/>
            <a:ext cx="402336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384679"/>
            <a:ext cx="384048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GPU host al03 restarts rather than moves: DDA does not live-migrate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4" name="Node 14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6" name="Node 16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8" name="Node 18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0" name="Node 20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Capacity is a decision; the VM lifecycle runs through Arc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Constraint, admission decision, VM action, resulting capacity state.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Capacity constraint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Admission decision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VM action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Resulting headroom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Adding a third node changes resiliency and intents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Planned Site Recovery failover: a small Ragnarok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Source, replication path, Azure target; the job starts now and may not land in time.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Source cluster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Replication path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target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Failover job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Completion is not guaranteed during the talk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integration with Site Recovery: confirm its status on the day (Learn lists it as preview)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Safe harbour: the failover result, not just relief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SAFE HARBOUR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700784"/>
            <a:ext cx="53492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Inspect the landed job, or play the labelled recording.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3392424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If it did not land: labelled recorded completed failover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SAFE HARBOUR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2" name="Node 1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4" name="Node 1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6" name="Node 1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8" name="Node 1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0" name="Node 2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voyage in one slide: every decision now running, and the cargo you take home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You may also like: more sagas worth your time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Three other NIC 2026 sessions that complement this one.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Behind the Patch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A Deep Dive into Azure Update Manager (Wim Matthyssen, L400, Thu 11:10 am, Room 2)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Migrating from VMWare to Azure Local with Azure Migrate (Jan-Tore Pedersen, L300, Thu 1:00 pm, Room 2)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Who Broke Production? Ask the Agent (Marius Sandbu, L400, Thu 3:40 pm, Room 3)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Times are Oslo time. Rooms can change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check the NIC agenda.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Voyage complete. Day 2 never ends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Questions in the hallway; the repo is yours.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Repo and demo guide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38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Kristopher Turner</dc:creator>
  <cp:lastModifiedBy>Kristopher Turner</cp:lastModifiedBy>
  <cp:revision>1</cp:revision>
  <dcterms:created xsi:type="dcterms:W3CDTF">2026-10-13T06:47:55Z</dcterms:created>
  <dcterms:modified xsi:type="dcterms:W3CDTF">2026-10-13T06:47:55Z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