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5-1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7-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5-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19-1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29-1.png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5-1.png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6-1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900" dirty="0"/>
              <a:t>Hybrid Cloud: Plan, Deploy, and Operate Azure Local from Discovery to Day 2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Thu 15 Oct, 09:50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port: Virginia, USA</a:t>
            </a:r>
          </a:p>
        </p:txBody>
      </p:sp>
      <p:sp>
        <p:nvSpPr>
          <p:cNvPr id="3" name="Photo shown live 3"/>
          <p:cNvSpPr/>
          <p:nvPr/>
        </p:nvSpPr>
        <p:spPr>
          <a:xfrm>
            <a:off x="457200" y="8961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4" name="Caption 4"/>
          <p:cNvSpPr/>
          <p:nvPr/>
        </p:nvSpPr>
        <p:spPr>
          <a:xfrm>
            <a:off x="2670048" y="8961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2816352" y="10789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743200" y="12070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The boys and the donkeys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Three boys, two donkeys, one fence. The donkeys have the better uptime.</a:t>
            </a:r>
          </a:p>
        </p:txBody>
      </p:sp>
      <p:sp>
        <p:nvSpPr>
          <p:cNvPr id="7" name="Photo shown live 7"/>
          <p:cNvSpPr/>
          <p:nvPr/>
        </p:nvSpPr>
        <p:spPr>
          <a:xfrm>
            <a:off x="4663440" y="8961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8" name="Caption 8"/>
          <p:cNvSpPr/>
          <p:nvPr/>
        </p:nvSpPr>
        <p:spPr>
          <a:xfrm>
            <a:off x="6876288" y="8961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7022592" y="10789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6949440" y="12070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Viking practice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My son and me, rehearsing for Oslo years before the invitation arrived.</a:t>
            </a:r>
          </a:p>
        </p:txBody>
      </p:sp>
      <p:sp>
        <p:nvSpPr>
          <p:cNvPr id="11" name="Photo shown live 11"/>
          <p:cNvSpPr/>
          <p:nvPr/>
        </p:nvSpPr>
        <p:spPr>
          <a:xfrm>
            <a:off x="457200" y="27249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12" name="Caption 12"/>
          <p:cNvSpPr/>
          <p:nvPr/>
        </p:nvSpPr>
        <p:spPr>
          <a:xfrm>
            <a:off x="2670048" y="27249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Rule 13"/>
          <p:cNvSpPr/>
          <p:nvPr/>
        </p:nvSpPr>
        <p:spPr>
          <a:xfrm>
            <a:off x="2816352" y="29077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743200" y="30358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Head of security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The dog. Approves every change, reads none of them.</a:t>
            </a:r>
          </a:p>
        </p:txBody>
      </p:sp>
      <p:sp>
        <p:nvSpPr>
          <p:cNvPr id="15" name="Photo shown live 15"/>
          <p:cNvSpPr/>
          <p:nvPr/>
        </p:nvSpPr>
        <p:spPr>
          <a:xfrm>
            <a:off x="4663440" y="2724912"/>
            <a:ext cx="2103120" cy="1682496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Photo shown live</a:t>
            </a:r>
          </a:p>
        </p:txBody>
      </p:sp>
      <p:sp>
        <p:nvSpPr>
          <p:cNvPr id="16" name="Caption 16"/>
          <p:cNvSpPr/>
          <p:nvPr/>
        </p:nvSpPr>
        <p:spPr>
          <a:xfrm>
            <a:off x="6876288" y="2724912"/>
            <a:ext cx="1810512" cy="1682496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Rule 17"/>
          <p:cNvSpPr/>
          <p:nvPr/>
        </p:nvSpPr>
        <p:spPr>
          <a:xfrm>
            <a:off x="7022592" y="29077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6949440" y="3035808"/>
            <a:ext cx="1664208" cy="129844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350" b="1" dirty="0">
                <a:solidFill>
                  <a:srgbClr val="1A1B1B"/>
                </a:solidFill>
                <a:latin typeface="Roboto"/>
                <a:cs typeface="Roboto"/>
              </a:rPr>
              <a:t>Change advisory board</a:t>
            </a:r>
          </a:p>
          <a:p>
            <a:pPr>
              <a:spcBef>
                <a:spcPts val="400"/>
              </a:spcBef>
            </a:pPr>
            <a:r>
              <a:rPr lang="en-US" sz="900" dirty="0">
                <a:solidFill>
                  <a:srgbClr val="193233"/>
                </a:solidFill>
                <a:latin typeface="Roboto"/>
                <a:cs typeface="Roboto"/>
              </a:rPr>
              <a:t>The chicken has concerns. So do 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IIC wants Azure Local: the ship, and the versions on board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job, a two-node validated system reached remotely, and the exact release it runs: a lab smaller than the real thing, with...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Fictional customer: IIC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 x AX-760 nodes, switch pair, firewall pair, console server; reached remotely over a VPN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Azure Local 12.2609.1003.7 (OS 26100.33438): the latest at build time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Abstract: sizing against 2604. On stage: sizing against whatever is current when you deploy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Preview on stage: simplified machine provisioning (a feature, not the release)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Repo tag and last validation date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The Voyage Chart: the whole session on one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Five tools along the course: assess, design, check, provision, listen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owner's tool family, each at its step on the chart, and which beats are live, recorded or yours to follow along.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189822"/>
                <a:gridCol w="1090670"/>
                <a:gridCol w="3569465"/>
                <a:gridCol w="2379643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Tool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What it does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On stage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Surveyor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1.1–1.2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Assess the estate and size the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Trailwright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1.12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Design record, validation, infrastructure.yml export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Live, follow-along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Beacon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Pre-deployment check from virtual media, before any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ZTP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2.3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Provision the machines (simplified provisioning,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Recorded, 30 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Sonar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Watch Validate and Deploy, step by step, with the logs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replay of the recorded deployment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Charting the course: kick-off, assessment and what it cannot see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CHARTING THE COURSE  ·  SECTION 1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Two routes to the same evidence: what each finds, what each misses, and which output enters the design package.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Tenant, identity, access, landing zone, automation, network, hardware, naming, workloads, continuity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RVTools from the VMware team, or Azure Migrate discovery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Both feed Azure Local Surveyor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The workload: the IIC estate plus AVD on Azure Local (session hosts, SOFS profile shares)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Record missing evidence; do not invent it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CHARTING THE COURSE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00" dirty="0"/>
              <a:t>Sizing: usable capacity, minus wishful thinking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Demand (the IIC estate plus the AVD session hosts and SOFS nodes), resiliency, node-loss reserve, growth, usable.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Workload demand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Growth headroom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Resiliency copies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Rebuild reserve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Usable capacity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Demand: IIC estate + AVD session hosts + SOFS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Two-way mirror on two nodes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N-1 maintenance reserve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Release decision: latest supported at build time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Hardware paths, topology and quorum: count votes, not hopes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Existing hardware or new purchase: discover the whole site, verify support and map observed server/fabric evidence into the...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Decision: validated integrated system (two AX-760)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Two-way mirror: one fault from zero redundancy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Inventory: servers, NIC ports/MACs, drives/controllers, boot media; ToR/OOB switches, firewall, uplinks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Outputs: provenance, supported hardware/firmware review, approved JSON-to-YAML mapping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Rack Aware: not chosen here, and not proven by this demo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One node plus the witness lost: quorum lost, cluster offline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GPU per node: DDA for one AVD host, and what it does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Partitioning or passthrough is decided per workload.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188845"/>
        </p:xfrm>
        <a:graphic>
          <a:graphicData uri="http://schemas.openxmlformats.org/drawingml/2006/table">
            <a:tbl>
              <a:tblPr firstRow="1"/>
              <a:tblGrid>
                <a:gridCol w="1708030"/>
                <a:gridCol w="3260785"/>
                <a:gridCol w="3260785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/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DDA (passthrough)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GPU partitioning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What the VM gets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whole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 slice of the GPU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 for DDA and the data center driver (compute and AI); desktop graphics acceleration needs NVIDIA vWS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NVIDIA vGPU software (vApps, vPC or vWS)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Live migration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No: restarts on a node with a free GPU, or stays off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Supported with conditions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IIC choice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Yes: one L4 per node, one GPU session host (D-051)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 licence, not used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Site and connectivity: a failed prerequisite has a price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A failed prerequisite and its deployment consequence.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700" dirty="0"/>
              <a:t>Management, compute, storage and OOB paths; gateways, DNS/NTP, routing, egress and return path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Full sanitized ToR/OOB/firewall exports; VLANs, ports, trunks, MTU, ACLs and NAT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Recommendation: Arc gateway (new deployments on 2506 or later; it cannot be enabled afterwards) or proxy plus Arc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Preview constraint: the provisioning preview used here does not support the gateway</a:t>
            </a:r>
          </a:p>
          <a:p>
            <a:pPr>
              <a:spcBef>
                <a:spcPts val="700"/>
              </a:spcBef>
            </a:pPr>
            <a:r>
              <a:rPr lang="en-US" sz="1700" dirty="0"/>
              <a:t>Lab: direct egress with the full allow-list (D-024)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Demo: Network ATC intent design, preferably intentional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VLAN isolation and physical convergence are separate decisions; reviewed site evidence maps to approved Network ATC intents.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intents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management, compute, storage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Management/compute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same VLAN, separate VLANs on shared adapters, or dedicated adapters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Read back the approved choice; map ports/MACs, tagging, MTU and storage/RDMA requirements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98F8FE"/>
                </a:solidFill>
                <a:latin typeface="Roboto"/>
                <a:cs typeface="Roboto"/>
              </a:rPr>
              <a:t>Workload VLANs follow the workloads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C3FBFE"/>
                </a:solidFill>
                <a:latin typeface="Roboto"/>
                <a:cs typeface="Roboto"/>
              </a:rPr>
              <a:t>2204 compute, 2215 AVD, 2216 SOFS, 2217 app, 2218 data, 2219 isolated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Identity, landing zone and naming: future you has to read this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Local Identity with Key Vault, and who may do what.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50" dirty="0"/>
              <a:t>Local Identity with Key Vault: no domain join, no OU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Workloads decide their own identity: the SOFS needs AD, so its VMs and the AVD hosts join AD; hybrid users synced by Microsoft Entra Cloud Sync, agent on its own member server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Dedicated subscription under the landing-zones management group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Supported with this model: Azure portal, PowerShell, Azure Monitor. Not Windows Admin Center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Naming: nic26 site token</a:t>
            </a:r>
          </a:p>
          <a:p>
            <a:pPr>
              <a:spcBef>
                <a:spcPts val="700"/>
              </a:spcBef>
            </a:pPr>
            <a:r>
              <a:rPr lang="en-US" sz="1650" dirty="0"/>
              <a:t>Groups, Azure RBAC, PIM eligibility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Continuity, then the go/no-go: Trailwright turns the design into infrastructure.yml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RPO/RTO per tier and the operating requirements decided now.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Backup for all tiers; Site Recovery for tier 1 with a quarterly test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Monitoring scope and cost ceiling; maintenance windows; update ownership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Trailwright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design record, validated, one bad value caught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Export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infrastructure.yml and a Bicep starting point; a handoff, not the deployment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Building the ship: Beacon sounds the harbour, two routes to an Arc-registered machine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BUILDING THE SHIP  ·  SECTION 2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Foundation and site checks first, Beacon before any OS; then the machines get an OS and Arc by one of two routes, and the preview...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00" dirty="0"/>
              <a:t>Foundation: resource groups, providers, workspace, Key Vault, witness, spoke, tags, budgets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Beacon before any OS: target disk, network, DNS, Azure endpoints (Environment Checker)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A, simplified machine provisioning (preview): Ready to cluster, then Deploy stopped on device-ID Arc names</a:t>
            </a:r>
          </a:p>
          <a:p>
            <a:pPr>
              <a:spcBef>
                <a:spcPts val="700"/>
              </a:spcBef>
            </a:pPr>
            <a:r>
              <a:rPr lang="en-US" sz="1500" dirty="0"/>
              <a:t>Route B, image + drivers + Arc registration (GA): the event cluster; Arc names = host names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BUILDING THE SHIP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setting, every layer, and the what-if before the what-have-we-done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layers the setting passes through, then a read-only preview of the deployment package.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infrastructure.yml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Bicep parameter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Portal field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Deployment result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Validation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What the what-if cannot validate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deployment time-lapsed, Sonar listening beside it, and the intents running for real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Honest durations, and the real run's steps and logs beside them: the Resource Bridge step alone is 40 to 45 minutes.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Validate about 10 minutes; Deploy 2.5 to 3 hours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Sonar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step, its status and duration, and the seed-node logs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35099"/>
            <a:ext cx="2621280" cy="20002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179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55139"/>
            <a:ext cx="2438400" cy="15887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Local Identity bootstrap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node in WORKGROUP, secrets in the vault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Post-deployment validation, then a little red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 healthy deployment is not a Day-2-ready platform.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Validate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Deliberate red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Fix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Green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5" name="Node 15"/>
          <p:cNvSpPr/>
          <p:nvPr/>
        </p:nvSpPr>
        <p:spPr>
          <a:xfrm>
            <a:off x="3899916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7" name="Node 17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9" name="Node 19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1" name="Node 21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3" name="Node 2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00" dirty="0"/>
              <a:t>Making it seaworthy: Monitor, Heimdall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MAKING IT SEAWORTHY  ·  SECTION 3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DCR is the cost decision.</a:t>
            </a:r>
          </a:p>
        </p:txBody>
      </p:sp>
      <p:sp>
        <p:nvSpPr>
          <p:cNvPr id="6" name="Content 6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Lab workspace law-iic-nic26-eus-01: 30 days, 2 GB/day cap; security data in its own Sentinel workspace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Health, storage, intents, cluster: not the firehose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DCRs do not control every ingestion source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Preview: Azure Copilot Observability Agent investigates alerts on the same data; billed per use</a:t>
            </a:r>
          </a:p>
        </p:txBody>
      </p:sp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MAKING IT SEAWORTHY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3" name="Node 13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5" name="Node 15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7" name="Node 17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9" name="Node 19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Who updates what, and who told Windows 11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update planes, two owners; Windows 11 is a third.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50" dirty="0"/>
              <a:t>Cluster: Lifecycle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Guests: Azure Update Manager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Windows 11 clients (the AVD session hosts): Intune or Windows Update for Business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Maintenance window: Sunday 02:00 US Eastern, first run 18 Oct (after the event); dynamic scope by tag</a:t>
            </a:r>
          </a:p>
          <a:p>
            <a:pPr>
              <a:spcBef>
                <a:spcPts val="700"/>
              </a:spcBef>
            </a:pPr>
            <a:r>
              <a:rPr lang="en-US" sz="2150" dirty="0"/>
              <a:t>No patch run is shown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Backup versus DR: hope has no RPO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Backup is recovery in hours; Site Recovery is continuity in minutes.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Azure Backup as the worked example; any backup solution applies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Restore tests land on the isolated network, never next to production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As built: vault and policies in place; Site Recovery replication waits (node preparation needs approval; Trusted launch VMs are not supported)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Eligible, not standing: access with an audit trail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Operators hold eligible roles, activate with justification and MFA, and every activation leaves an audit entry.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PIM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eligible, not standing; activation with justification and MFA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administrator, VM contributor and VM reader roles scoped to the landing zone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audit entry is the evidence, not the activation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7" name="Node 1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9" name="Node 19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1" name="Node 2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3" name="Node 2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5" name="Node 2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One policy set, Defender for Cloud on everything: the security baseline as production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Policy audits and inherits tags at subscription scope; Defender for Cloud covers the cluster and every Arc-enabled VM on it.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Policy at subscription scope on both landing zones: audit, not block; tags inherited; activity log and security events to the Sentinel workspace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Defender CSPM, Defender for Servers P2, Storage, Key Vault, Resource Manager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Azure Local machines exempt from per-machine agent policy: the agent is a cluster extension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Compliance evaluation is not instant: show the existing result</a:t>
            </a:r>
          </a:p>
        </p:txBody>
      </p:sp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Microsoft Sentinel: the security log gets its own workspace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Sentinel on a dedicated workspace with the Defender for Cloud, Azure Activity, Entra ID and Windows Security Events connectors...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Dedicated workspace, 90 days, its own daily cap and alerts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Connectors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Defender for Cloud, Azure Activity, Microsoft Entra ID, Windows Security Events (AMA)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Analytics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starter rules plus Fusion and Defender incident creation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One incident, from alert to the entity, in one glance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workload platform: six logical networks, a rule book each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SDN enabled by Arc puts an NSG on every logical network, managed from Azure like the VMs.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8229600" cy="2758821"/>
        </p:xfrm>
        <a:graphic>
          <a:graphicData uri="http://schemas.openxmlformats.org/drawingml/2006/table">
            <a:tbl>
              <a:tblPr firstRow="1"/>
              <a:tblGrid>
                <a:gridCol w="2848708"/>
                <a:gridCol w="633046"/>
                <a:gridCol w="2057400"/>
                <a:gridCol w="2690446"/>
              </a:tblGrid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Logical network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VLAN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Workload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NSG admits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lnet-iic-nic26-compute-vlan2204-eus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2204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General VMs, demo and ASR source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Admin (RDP, WinRM, SSH, ICMP), internal web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lnet-iic-nic26-avd-vlan2215-eus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2215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AVD session hosts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RDP Shortpath from P2S, break-glass RDP; never the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lnet-iic-nic26-sofs-vlan2216-eus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2216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SOFS for FSLogix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SMB and SMB Witness from the AVD network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lnet-iic-nic26-app-vlan2217-eus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2217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app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Web 80/443 from internal and P2S; admin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43548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lnet-iic-nic26-data-vlan2218-eus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2218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IIC data tier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1433 from the app tier (and jump hosts); never initiates to desktops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290703">
                <a:tc>
                  <a:txBody>
                    <a:bodyPr/>
                    <a:lstStyle/>
                    <a:p>
                      <a:pPr algn="l"/>
                      <a:r>
                        <a:rPr lang="en-US" sz="9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lnet-iic-nic26-isolated-vlan2219-eus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2219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Restore and migration tests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95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DNS and itself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cxnSp>
        <p:nvCxnSpPr>
          <p:cNvPr id="6" name="Line 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7" name="Node 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9" name="Node 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1" name="Node 11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3" name="Node 1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5" name="Node 1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Storage for the cargo: fixed volumes, a repair reserve and a two-VM SOFS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Four fixed two-way mirror volumes sized for every VM both sessions use; one drive per node never allocated; the SOFS as two VMs,...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08885"/>
        </p:xfrm>
        <a:graphic>
          <a:graphicData uri="http://schemas.openxmlformats.org/drawingml/2006/table">
            <a:tbl>
              <a:tblPr firstRow="1"/>
              <a:tblGrid>
                <a:gridCol w="1828800"/>
                <a:gridCol w="1676400"/>
                <a:gridCol w="2895600"/>
                <a:gridCol w="1828800"/>
              </a:tblGrid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Volume or service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Size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Holds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Storage path or check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vmstore-01 / vmstore-02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2.5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session hosts, IIC VMs, demo and ASR VMs,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volume, plus one for images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sofs-01 / sofs-02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1.5 TiB each, fixed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SOFS VM each: OS + 4 × 256 GB data disks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per volume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as built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nic26-sofs-cl, two VMs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two-way mirror FSLogixData 720 GiB; share \\nic26-sofs.azurelocal.mgmt\Profiles, continuously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44 of 44 read-back checks passed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Repair reserve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One capacity drive per node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Never allocated: the drive fault repairs into it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The readiness gate: evidence, not hope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Operational acceptance is verified controls, not configured ones.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Configured · Pending evidence · Verified · Failed · Not applicable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249424"/>
            <a:ext cx="4023360" cy="137160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4323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569464"/>
            <a:ext cx="3840480" cy="9601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Platform validation and operational acceptance are separate gates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50892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Loading the cargo with Azure Migrate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LOADING THE CARGO  ·  SECTION 3B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Assessed, migrated, operated: one inventory through the lifecycle.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Assess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Test migrate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Cutover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Operate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Prepare, discover, target appliance on the cluster, replicate, migrate, verify, complete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LOADING THE CARGO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01868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Weathering the storm: Lifecycle Manager, one update train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WEATHERING THE STORM  ·  SECTION 4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C3FBFE"/>
                </a:solidFill>
                <a:latin typeface="Roboto"/>
                <a:cs typeface="Roboto"/>
              </a:rPr>
              <a:t>Entry conditions for the operating loop, then one update train with readiness checks before and after.</a:t>
            </a:r>
          </a:p>
        </p:txBody>
      </p:sp>
      <p:sp>
        <p:nvSpPr>
          <p:cNvPr id="6" name="Box 6"/>
          <p:cNvSpPr/>
          <p:nvPr/>
        </p:nvSpPr>
        <p:spPr>
          <a:xfrm>
            <a:off x="457200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Discover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132588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1581912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Download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245059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2706624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Health check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3575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3831336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Update node by node</a:t>
            </a:r>
          </a:p>
        </p:txBody>
      </p:sp>
      <p:cxnSp>
        <p:nvCxnSpPr>
          <p:cNvPr id="13" name="Arrow 13"/>
          <p:cNvCxnSpPr/>
          <p:nvPr/>
        </p:nvCxnSpPr>
        <p:spPr>
          <a:xfrm>
            <a:off x="470001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4" name="Box 14"/>
          <p:cNvSpPr/>
          <p:nvPr/>
        </p:nvSpPr>
        <p:spPr>
          <a:xfrm>
            <a:off x="4956048" y="1563624"/>
            <a:ext cx="850392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Validate</a:t>
            </a:r>
          </a:p>
        </p:txBody>
      </p:sp>
      <p:sp>
        <p:nvSpPr>
          <p:cNvPr id="15" name="Text 15"/>
          <p:cNvSpPr txBox="1"/>
          <p:nvPr/>
        </p:nvSpPr>
        <p:spPr>
          <a:xfrm>
            <a:off x="640080" y="2752344"/>
            <a:ext cx="498348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A precheck that blocks progress; the decision to proceed or stop; post-update evidence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550" dirty="0">
                <a:solidFill>
                  <a:srgbClr val="98F8FE"/>
                </a:solidFill>
                <a:latin typeface="Roboto"/>
                <a:cs typeface="Roboto"/>
              </a:rPr>
              <a:t>Under the storm: the AVD session hosts, the SOFS profile shares and the IIC tiers</a:t>
            </a:r>
          </a:p>
        </p:txBody>
      </p:sp>
      <p:sp>
        <p:nvSpPr>
          <p:cNvPr id="16" name="Opener frame 1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7" name="Leg chart 1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18" name="Text 1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WEATHERING THE STORM</a:t>
            </a:r>
          </a:p>
        </p:txBody>
      </p:sp>
      <p:cxnSp>
        <p:nvCxnSpPr>
          <p:cNvPr id="19" name="Line 1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20" name="Node 2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2" name="Node 2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4" name="Node 2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6" name="Node 2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8" name="Node 28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Fault diagnosis: the shape, and a drive retired by software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Symptom, signal, differential diagnosis, action, recovery evidence.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Symptom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Signal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Diagnosis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Action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Box 13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Recovery evidence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Recovery is the repair finished and redundancy restored, not a cleared alert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Software-induced: an administrative retire, not a physical failure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Does not test: physical failure signals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8" name="Node 1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0" name="Node 2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2" name="Node 2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4" name="Node 24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agent proposes, the engineer decides: an investigation from the rehearsal run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The Observability Agent (preview) takes the signal and the diagnosis steps; recovery evidence is still the repair finished.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Preview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 Copilot Observability Agent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Alert from the rehearsal run of the same fault, labelled with its date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98F8FE"/>
                </a:solidFill>
                <a:latin typeface="Roboto"/>
                <a:cs typeface="Roboto"/>
              </a:rPr>
              <a:t>Plan shown, not confirmed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confirmed deep investigation is billed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1259"/>
            <a:ext cx="1920240" cy="248793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7413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1299"/>
            <a:ext cx="1737360" cy="207645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Saved investigation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affected components, ruled-out hypotheses, next steps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20" name="Node 20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2" name="Node 22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4" name="Node 24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6" name="Node 26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8" name="Node 2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30" name="Text 3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Intent drift remediated, and a node lost with quorum intact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Two incidents, two failure domains: symptom, diagnostic evidence, response, outcome.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Not 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no redundancy to spare, and the BMC path may share the VPN</a:t>
            </a:r>
          </a:p>
        </p:txBody>
      </p:sp>
      <p:sp>
        <p:nvSpPr>
          <p:cNvPr id="8" name="Card 8"/>
          <p:cNvSpPr/>
          <p:nvPr/>
        </p:nvSpPr>
        <p:spPr>
          <a:xfrm>
            <a:off x="4663440" y="2064639"/>
            <a:ext cx="402336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482803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754880" y="2384679"/>
            <a:ext cx="384048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GPU host al03 restarts rather than moves: DDA does not live-migrate</a:t>
            </a:r>
          </a:p>
        </p:txBody>
      </p:sp>
      <p:cxnSp>
        <p:nvCxnSpPr>
          <p:cNvPr id="11" name="Line 1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2" name="Node 1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4" name="Node 14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6" name="Node 16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8" name="Node 18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0" name="Node 20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Capacity is a decision; the VM lifecycle runs through Arc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Constraint, admission decision, VM action, resulting capacity state.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Capacity constraint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Admission decision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VM action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Resulting headroom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Adding a third node changes resiliency and intents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Planned Site Recovery failover: a small Ragnarok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Source, replication path, Azure target; the job starts now and may not land in time.</a:t>
            </a:r>
          </a:p>
        </p:txBody>
      </p:sp>
      <p:sp>
        <p:nvSpPr>
          <p:cNvPr id="5" name="Box 5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Source cluster</a:t>
            </a:r>
          </a:p>
        </p:txBody>
      </p:sp>
      <p:cxnSp>
        <p:nvCxnSpPr>
          <p:cNvPr id="6" name="Arrow 6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7" name="Box 7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Replication path</a:t>
            </a:r>
          </a:p>
        </p:txBody>
      </p:sp>
      <p:cxnSp>
        <p:nvCxnSpPr>
          <p:cNvPr id="8" name="Arrow 8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9" name="Box 9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262929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Azure target</a:t>
            </a:r>
          </a:p>
        </p:txBody>
      </p:sp>
      <p:cxnSp>
        <p:nvCxnSpPr>
          <p:cNvPr id="10" name="Arrow 10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1" name="Box 11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98F8FE"/>
          </a:solidFill>
          <a:ln w="15875">
            <a:solidFill>
              <a:srgbClr val="98F8FE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Failover job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Completion is not guaranteed during the talk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Azure Local integration with Site Recovery: confirm its status on the day (Learn lists it as preview)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6" name="Node 16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8" name="Node 18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0" name="Node 20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2" name="Node 22"/>
          <p:cNvSpPr/>
          <p:nvPr/>
        </p:nvSpPr>
        <p:spPr>
          <a:xfrm>
            <a:off x="6752844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4" name="Node 2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250" dirty="0"/>
              <a:t>Safe harbour: the failover result, not just relief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SAFE HARBOUR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700784"/>
            <a:ext cx="53492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Inspect the landed job, or play the labelled recording.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548640" y="3392424"/>
            <a:ext cx="516636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If it did not land: labelled recorded completed failover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SAFE HARBOUR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2" name="Node 12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4" name="Node 14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6" name="Node 16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8" name="Node 18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0" name="Node 20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voyage in one slide: every decision now running, and the cargo you take home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7" name="Node 7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9" name="Node 9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1" name="Node 11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3" name="Node 13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5" name="Node 15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You may also like: more sagas worth your time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Three other NIC 2026 sessions that complement this one.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Behind the Patch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 Deep Dive into Azure Update Manager (Wim Matthyssen, L400, Thu 11:10 am, Room 2)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Migrating from VMWare to Azure Local with Azure Migrate (Jan-Tore Pedersen, L300, Thu 1:00 pm, Room 2)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Who Broke Production? Ask the Agent (Marius Sandbu, L400, Thu 3:40 pm, Room 3)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Times are Oslo time. Rooms can change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check the NIC agenda.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19" name="Node 19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21" name="Node 21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23" name="Node 23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4" name="Text 24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25" name="Node 25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6" name="Text 26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27" name="Node 27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8" name="Text 2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29" name="Text 2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Voyage complete. Day 2 never ends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731520" y="1700784"/>
            <a:ext cx="768096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2800" b="1" dirty="0">
                <a:solidFill>
                  <a:srgbClr val="1A1B1B"/>
                </a:solidFill>
                <a:latin typeface="Roboto"/>
                <a:cs typeface="Roboto"/>
              </a:rPr>
              <a:t>Questions in the hallway; the repo is yours.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822960" y="3392424"/>
            <a:ext cx="7498080" cy="91440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700" dirty="0">
                <a:solidFill>
                  <a:srgbClr val="193233"/>
                </a:solidFill>
                <a:latin typeface="Roboto"/>
                <a:cs typeface="Roboto"/>
              </a:rPr>
              <a:t>Repo and demo guide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Chart</a:t>
            </a:r>
          </a:p>
        </p:txBody>
      </p:sp>
      <p:sp>
        <p:nvSpPr>
          <p:cNvPr id="8" name="Node 8"/>
          <p:cNvSpPr/>
          <p:nvPr/>
        </p:nvSpPr>
        <p:spPr>
          <a:xfrm>
            <a:off x="3927348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511296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Build</a:t>
            </a:r>
          </a:p>
        </p:txBody>
      </p:sp>
      <p:sp>
        <p:nvSpPr>
          <p:cNvPr id="10" name="Node 10"/>
          <p:cNvSpPr/>
          <p:nvPr/>
        </p:nvSpPr>
        <p:spPr>
          <a:xfrm>
            <a:off x="4878324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4462272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Seaworthy</a:t>
            </a:r>
          </a:p>
        </p:txBody>
      </p:sp>
      <p:sp>
        <p:nvSpPr>
          <p:cNvPr id="12" name="Node 12"/>
          <p:cNvSpPr/>
          <p:nvPr/>
        </p:nvSpPr>
        <p:spPr>
          <a:xfrm>
            <a:off x="5829300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5413248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Cargo</a:t>
            </a:r>
          </a:p>
        </p:txBody>
      </p:sp>
      <p:sp>
        <p:nvSpPr>
          <p:cNvPr id="14" name="Node 14"/>
          <p:cNvSpPr/>
          <p:nvPr/>
        </p:nvSpPr>
        <p:spPr>
          <a:xfrm>
            <a:off x="6780276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364224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Storm</a:t>
            </a:r>
          </a:p>
        </p:txBody>
      </p:sp>
      <p:sp>
        <p:nvSpPr>
          <p:cNvPr id="16" name="Node 16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Harbour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38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Azure Local, Discovery to Day 2</dc:title>
  <dc:subject>Hybrid Cloud: Plan, Deploy, and Operate Azure Local from Discovery to Day 2</dc:subject>
  <dc:creator>Kristopher Turner</dc:creator>
  <cp:lastModifiedBy>Kristopher Turner</cp:lastModifiedBy>
  <cp:revision>1</cp:revision>
  <dcterms:created xsi:type="dcterms:W3CDTF">2026-10-12T23:51:32Z</dcterms:created>
  <dcterms:modified xsi:type="dcterms:W3CDTF">2026-10-12T23:51:32Z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