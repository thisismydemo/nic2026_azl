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1001"/>
    <p:sldId id="257" r:id="rId1002"/>
    <p:sldId id="258" r:id="rId1003"/>
    <p:sldId id="259" r:id="rId1004"/>
    <p:sldId id="260" r:id="rId1005"/>
    <p:sldId id="261" r:id="rId1006"/>
    <p:sldId id="262" r:id="rId1007"/>
    <p:sldId id="263" r:id="rId1008"/>
    <p:sldId id="264" r:id="rId1009"/>
    <p:sldId id="265" r:id="rId1010"/>
    <p:sldId id="266" r:id="rId1011"/>
    <p:sldId id="267" r:id="rId1012"/>
    <p:sldId id="268" r:id="rId1013"/>
    <p:sldId id="269" r:id="rId1014"/>
    <p:sldId id="270" r:id="rId1015"/>
    <p:sldId id="271" r:id="rId1016"/>
    <p:sldId id="272" r:id="rId1017"/>
    <p:sldId id="273" r:id="rId1018"/>
    <p:sldId id="274" r:id="rId1019"/>
    <p:sldId id="275" r:id="rId1020"/>
    <p:sldId id="276" r:id="rId1021"/>
    <p:sldId id="277" r:id="rId1022"/>
    <p:sldId id="278" r:id="rId1023"/>
    <p:sldId id="279" r:id="rId1024"/>
    <p:sldId id="280" r:id="rId1025"/>
    <p:sldId id="281" r:id="rId1026"/>
    <p:sldId id="282" r:id="rId1027"/>
    <p:sldId id="283" r:id="rId1028"/>
    <p:sldId id="284" r:id="rId1029"/>
    <p:sldId id="285" r:id="rId1030"/>
    <p:sldId id="286" r:id="rId1031"/>
    <p:sldId id="287" r:id="rId1032"/>
    <p:sldId id="288" r:id="rId1033"/>
    <p:sldId id="289" r:id="rId1034"/>
    <p:sldId id="290" r:id="rId1035"/>
    <p:sldId id="291" r:id="rId1036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B1B"/>
    <a:srgbClr val="193233"/>
    <a:srgbClr val="98F8FE"/>
    <a:srgbClr val="B0FFFF"/>
    <a:srgbClr val="0A1523"/>
    <a:srgbClr val="ED2A24"/>
    <a:srgbClr val="D9FFFF"/>
    <a:srgbClr val="630991"/>
    <a:srgbClr val="0D000D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18" autoAdjust="0"/>
  </p:normalViewPr>
  <p:slideViewPr>
    <p:cSldViewPr snapToObjects="1">
      <p:cViewPr varScale="1">
        <p:scale>
          <a:sx n="130" d="100"/>
          <a:sy n="130" d="100"/>
        </p:scale>
        <p:origin x="150" y="10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21" Type="http://schemas.openxmlformats.org/officeDocument/2006/relationships/font" Target="fonts/font7.fntdata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9" Type="http://schemas.openxmlformats.org/officeDocument/2006/relationships/font" Target="fonts/font5.fntdata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customXml" Target="../customXml/item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1032" Type="http://schemas.openxmlformats.org/officeDocument/2006/relationships/slide" Target="slides/slide32.xml"/><Relationship Id="rId1033" Type="http://schemas.openxmlformats.org/officeDocument/2006/relationships/slide" Target="slides/slide33.xml"/><Relationship Id="rId1034" Type="http://schemas.openxmlformats.org/officeDocument/2006/relationships/slide" Target="slides/slide34.xml"/><Relationship Id="rId1035" Type="http://schemas.openxmlformats.org/officeDocument/2006/relationships/slide" Target="slides/slide35.xml"/><Relationship Id="rId1036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E9E7-0A46-C642-B1CD-9F43F63A761F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0FFE6-5FBB-9B41-A19C-338E023F0B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770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37FED-970C-2049-96AE-96BD1BA5E2DA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Click to edit Master text styles</a:t>
            </a:r>
          </a:p>
          <a:p>
            <a:pPr lvl="1"/>
            <a:r>
              <a:rPr lang="nb-NO"/>
              <a:t>Second level</a:t>
            </a:r>
          </a:p>
          <a:p>
            <a:pPr lvl="2"/>
            <a:r>
              <a:rPr lang="nb-NO"/>
              <a:t>Third level</a:t>
            </a:r>
          </a:p>
          <a:p>
            <a:pPr lvl="3"/>
            <a:r>
              <a:rPr lang="nb-NO"/>
              <a:t>Fourth level</a:t>
            </a:r>
          </a:p>
          <a:p>
            <a:pPr lvl="4"/>
            <a:r>
              <a:rPr lang="nb-N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8085-8ED8-F544-9D86-69C4C46BE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0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78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F95C4E-1091-4AFC-A458-56779C01DE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995686"/>
            <a:ext cx="8064896" cy="72008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CD8EA4B-13CD-40B4-BDDD-B2F23644D4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2931791"/>
            <a:ext cx="8064896" cy="432048"/>
          </a:xfrm>
        </p:spPr>
        <p:txBody>
          <a:bodyPr/>
          <a:lstStyle>
            <a:lvl1pPr marL="0" indent="0" algn="ctr">
              <a:buClr>
                <a:srgbClr val="FDBA12"/>
              </a:buClr>
              <a:buFontTx/>
              <a:buNone/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2pPr>
            <a:lvl3pPr marL="9144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3pPr>
            <a:lvl4pPr marL="13716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4pPr>
            <a:lvl5pPr marL="1828800" indent="0">
              <a:buClr>
                <a:srgbClr val="FDBA12"/>
              </a:buClr>
              <a:buFontTx/>
              <a:buNone/>
              <a:defRPr baseline="0">
                <a:solidFill>
                  <a:schemeClr val="bg1"/>
                </a:solidFill>
                <a:latin typeface="IBM Plex Sans" panose="020B0503050203000203" pitchFamily="34" charset="0"/>
                <a:cs typeface="Museo Sans 10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1114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4308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LIGHT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1A1B1B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114800" cy="2663825"/>
          </a:xfrm>
        </p:spPr>
        <p:txBody>
          <a:bodyPr/>
          <a:lstStyle>
            <a:lvl1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193233"/>
              </a:buClr>
              <a:defRPr baseline="0">
                <a:solidFill>
                  <a:srgbClr val="1A1B1B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1918F4-FC6F-654D-B51C-4278977557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444444"/>
              </a:buClr>
              <a:defRPr>
                <a:solidFill>
                  <a:srgbClr val="63099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8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inser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1pPr>
            <a:lvl2pPr marL="7429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2pPr>
            <a:lvl3pPr marL="12001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3pPr>
            <a:lvl4pPr marL="16573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4pPr>
            <a:lvl5pPr marL="2114550" indent="-285750">
              <a:buClr>
                <a:srgbClr val="193233"/>
              </a:buClr>
              <a:buFont typeface="Arial" panose="020B0604020202020204" pitchFamily="34" charset="0"/>
              <a:buChar char="•"/>
              <a:defRPr>
                <a:solidFill>
                  <a:srgbClr val="1A1B1B"/>
                </a:solidFill>
                <a:latin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87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8229600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 media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rgbClr val="98F8FE"/>
                </a:solidFill>
                <a:latin typeface="Roboto" panose="02000000000000000000" pitchFamily="2" charset="0"/>
              </a:defRPr>
            </a:lvl1pPr>
          </a:lstStyle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563688"/>
            <a:ext cx="4042792" cy="2663825"/>
          </a:xfrm>
        </p:spPr>
        <p:txBody>
          <a:bodyPr/>
          <a:lstStyle>
            <a:lvl1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1pPr>
            <a:lvl2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2pPr>
            <a:lvl3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3pPr>
            <a:lvl4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4pPr>
            <a:lvl5pPr>
              <a:buClr>
                <a:srgbClr val="C3FBFE"/>
              </a:buClr>
              <a:defRPr baseline="0">
                <a:solidFill>
                  <a:srgbClr val="98F8FE"/>
                </a:solidFill>
                <a:latin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619DA90-5716-16E7-D0C6-E0AD562F6B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6463" y="1563688"/>
            <a:ext cx="3970337" cy="2663825"/>
          </a:xfrm>
        </p:spPr>
        <p:txBody>
          <a:bodyPr/>
          <a:lstStyle>
            <a:lvl1pPr>
              <a:buClr>
                <a:srgbClr val="FFF9A9"/>
              </a:buCl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0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inser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2B-155C-4E38-B2A4-05F9B3773F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411510"/>
            <a:ext cx="8208143" cy="4176464"/>
          </a:xfrm>
        </p:spPr>
        <p:txBody>
          <a:bodyPr/>
          <a:lstStyle>
            <a:lvl1pPr marL="342900" indent="-34290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1pPr>
            <a:lvl2pPr marL="7429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2pPr>
            <a:lvl3pPr marL="12001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3pPr>
            <a:lvl4pPr marL="16573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4pPr>
            <a:lvl5pPr marL="2114550" indent="-285750">
              <a:buClr>
                <a:srgbClr val="C3FBFE"/>
              </a:buClr>
              <a:buFont typeface="Arial" panose="020B0604020202020204" pitchFamily="34" charset="0"/>
              <a:buChar char="•"/>
              <a:defRPr>
                <a:solidFill>
                  <a:srgbClr val="98F8FE"/>
                </a:solidFill>
                <a:latin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5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61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55526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69927"/>
            <a:ext cx="8229600" cy="2822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3" r:id="rId3"/>
    <p:sldLayoutId id="2147483692" r:id="rId4"/>
    <p:sldLayoutId id="2147483696" r:id="rId5"/>
    <p:sldLayoutId id="2147483694" r:id="rId6"/>
    <p:sldLayoutId id="2147483691" r:id="rId7"/>
    <p:sldLayoutId id="2147483655" r:id="rId8"/>
    <p:sldLayoutId id="2147483695" r:id="rId9"/>
    <p:sldLayoutId id="2147483697" r:id="rId10"/>
    <p:sldLayoutId id="2147483698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rgbClr val="1A1B1B"/>
          </a:solidFill>
          <a:latin typeface="Roboto" panose="02000000000000000000" pitchFamily="2" charset="0"/>
          <a:ea typeface="+mj-ea"/>
          <a:cs typeface="Roboto" panose="02000000000000000000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2000" b="0" i="0" strike="noStrike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2pPr>
      <a:lvl3pPr marL="1257300" indent="-3429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8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93233"/>
        </a:buClr>
        <a:buFont typeface="Arial"/>
        <a:buChar char="•"/>
        <a:defRPr sz="1400" b="0" i="0" kern="1200" baseline="0">
          <a:solidFill>
            <a:srgbClr val="0A1523"/>
          </a:solidFill>
          <a:latin typeface="Roboto" panose="02000000000000000000" pitchFamily="2" charset="0"/>
          <a:ea typeface="+mn-ea"/>
          <a:cs typeface="Roboto" panose="02000000000000000000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3-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5-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13-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17-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26-1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100" Type="http://schemas.openxmlformats.org/officeDocument/2006/relationships/image" Target="../media/gen-s27-1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33-1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gen-s34-1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640080" y="1325880"/>
            <a:ext cx="7863840" cy="1280160"/>
          </a:xfrm>
        </p:spPr>
        <p:txBody>
          <a:bodyPr anchor="ctr">
            <a:normAutofit/>
          </a:bodyPr>
          <a:lstStyle/>
          <a:p>
            <a:pPr/>
            <a:r>
              <a:rPr lang="en-US" sz="2900" dirty="0"/>
              <a:t>Hybrid Cloud: Plan, Deploy, and Operate Azure Local from Discovery to Day 2</a:t>
            </a:r>
          </a:p>
        </p:txBody>
      </p:sp>
      <p:sp>
        <p:nvSpPr>
          <p:cNvPr id="3" name="Speaker 3"/>
          <p:cNvSpPr>
            <a:spLocks noGrp="1"/>
          </p:cNvSpPr>
          <p:nvPr>
            <p:ph type="body" sz="quarter" idx="10"/>
          </p:nvPr>
        </p:nvSpPr>
        <p:spPr>
          <a:xfrm>
            <a:off x="640080" y="2743200"/>
            <a:ext cx="7863840" cy="457200"/>
          </a:xfrm>
        </p:spPr>
        <p:txBody>
          <a:bodyPr>
            <a:normAutofit/>
          </a:bodyPr>
          <a:lstStyle/>
          <a:p>
            <a:pPr algn="ctr"/>
            <a:r>
              <a:rPr lang="en-US" sz="1600" dirty="0"/>
              <a:t>Kristopher Turner · NIC 2026 · Thu 15 Oct, 09:50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IIC wants Azure Local: the ship, and the versions on board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The job, a two-node validated system reached remotely, and the exact release it runs: a lab smaller than the real thing, with...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Fictional customer: IIC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2 x AX-760 nodes, switch pair, firewall pair, console server; reached remotely over a VPN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Azure Local 12.2609.1003.7 (OS 26100.33438): the latest at build time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Abstract: sizing against 2604. On stage: sizing against whatever is current when you deploy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Preview on stage: simplified machine provisioning (a feature, not the release)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Repo tag and last validation date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450" dirty="0"/>
              <a:t>The Voyage Chart: the whole session on one map</a:t>
            </a:r>
          </a:p>
        </p:txBody>
      </p:sp>
      <p:pic>
        <p:nvPicPr>
          <p:cNvPr id="3" name="Chart 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48384" y="1097280"/>
            <a:ext cx="6047232" cy="3401568"/>
          </a:xfrm>
          <a:prstGeom prst="rect">
            <a:avLst/>
          </a:prstGeom>
        </p:spPr>
      </p:pic>
      <p:cxnSp>
        <p:nvCxnSpPr>
          <p:cNvPr id="4" name="Line 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5" name="Node 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7" name="Node 7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9" name="Node 9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1" name="Node 11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3" name="Node 13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5" name="Node 1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Five tools along the course: assess, design, check, provision, listen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The owner's tool family, each at its step on the chart, and which beats are live, recorded or yours to follow along.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517904"/>
          <a:ext cx="8229600" cy="2498598"/>
        </p:xfrm>
        <a:graphic>
          <a:graphicData uri="http://schemas.openxmlformats.org/drawingml/2006/table">
            <a:tbl>
              <a:tblPr firstRow="1"/>
              <a:tblGrid>
                <a:gridCol w="1189822"/>
                <a:gridCol w="1090670"/>
                <a:gridCol w="3569465"/>
                <a:gridCol w="2379643"/>
              </a:tblGrid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Tool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Step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On stage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Surveyor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1.1–1.2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Assess the estate and size the cluster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Live, follow-along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Trailwright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1.12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Design record, validation, infrastructure.yml export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Live, follow-along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Beacon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2.2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Pre-deployment check from virtual media, before any OS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Recorded, 30 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ZTP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2.3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Provision the machines (simplified provisioning, preview)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Recorded, 30 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Sonar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2.4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Watch Validate and Deploy, step by step, with the logs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Live replay of the recorded deployment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Charting the course: kick-off, assessment and what it cannot see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CHARTING THE COURSE  ·  SECTION 1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Two routes to the same evidence: what each finds, what each misses, and which output enters the design package.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50" dirty="0"/>
              <a:t>Tenant, identity, access, landing zone, automation, network, hardware, naming, workloads, continuity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RVTools from the VMware team, or Azure Migrate discovery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Both feed Azure Local Surveyor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The workload: the IIC estate plus AVD on Azure Local (session hosts, SOFS profile shares)</a:t>
            </a:r>
          </a:p>
          <a:p>
            <a:pPr>
              <a:spcBef>
                <a:spcPts val="700"/>
              </a:spcBef>
            </a:pPr>
            <a:r>
              <a:rPr lang="en-US" sz="1550" dirty="0"/>
              <a:t>Record missing evidence; do not invent it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CHARTING THE COURSE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3" name="Node 13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5" name="Node 15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7" name="Node 17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9" name="Node 19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1" name="Node 21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400" dirty="0"/>
              <a:t>Sizing: usable capacity, minus wishful thinking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Demand (the IIC estate plus the AVD session hosts and SOFS nodes), resiliency, node-loss reserve, growth, usable.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Workload demand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901952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157984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Growth headroom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602736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3858768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Resiliency copies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5303520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5559552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Rebuild reserve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7004304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7260336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Usable capacity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Demand: IIC estate + AVD session hosts + SOFS nodes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Two-way mirror on two nodes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N-1 maintenance reserve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Release decision: latest supported at build time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6" name="Node 16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8" name="Node 1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0" name="Node 2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2" name="Node 2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4" name="Node 2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6" name="Node 2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Hardware paths, topology and quorum: count votes, not hopes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Existing hardware or new purchase: discover the whole site, verify support and map observed server/fabric evidence into the...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800" dirty="0"/>
              <a:t>Decision: validated integrated system (two AX-760)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Two-way mirror: one fault from zero redundancy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Inventory: servers, NIC ports/MACs, drives/controllers, boot media; ToR/OOB switches, firewall, uplinks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Outputs: provenance, supported hardware/firmware review, approved JSON-to-YAML mapping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Rack Aware: not chosen here, and not proven by this demo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One node plus the witness lost: quorum lost, cluster offline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One GPU per node: DDA for one AVD host, and what it does to Day 2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Partitioning or passthrough is decided per workload.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517904"/>
          <a:ext cx="8229600" cy="1868805"/>
        </p:xfrm>
        <a:graphic>
          <a:graphicData uri="http://schemas.openxmlformats.org/drawingml/2006/table">
            <a:tbl>
              <a:tblPr firstRow="1"/>
              <a:tblGrid>
                <a:gridCol w="1708030"/>
                <a:gridCol w="3260785"/>
                <a:gridCol w="3260785"/>
              </a:tblGrid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/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DDA (passthrough)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GPU partitioning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What the VM gets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The whole GPU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 slice of the GPU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75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None for DDA and the data center driver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NVIDIA vGPU software (vApps, vPC or vWS)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Live migration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No: restarts on a node with a free GPU, or stays off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Supported with conditions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IIC choice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Yes: one L4 per node, one GPU session host (D-051)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No licence, not used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</a:tbl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Site and connectivity: a failed prerequisite has a price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A failed prerequisite and its deployment consequence.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700" dirty="0"/>
              <a:t>Management, compute, storage and OOB paths; gateways, DNS/NTP, routing, egress and return path</a:t>
            </a:r>
          </a:p>
          <a:p>
            <a:pPr>
              <a:spcBef>
                <a:spcPts val="700"/>
              </a:spcBef>
            </a:pPr>
            <a:r>
              <a:rPr lang="en-US" sz="1700" dirty="0"/>
              <a:t>Full sanitized ToR/OOB/firewall exports; VLANs, ports, trunks, MTU, ACLs and NAT</a:t>
            </a:r>
          </a:p>
          <a:p>
            <a:pPr>
              <a:spcBef>
                <a:spcPts val="700"/>
              </a:spcBef>
            </a:pPr>
            <a:r>
              <a:rPr lang="en-US" sz="1700" dirty="0"/>
              <a:t>Recommendation: Arc gateway (new deployments on 2506 or later; it cannot be enabled afterwards) or proxy plus Arc gateway</a:t>
            </a:r>
          </a:p>
          <a:p>
            <a:pPr>
              <a:spcBef>
                <a:spcPts val="700"/>
              </a:spcBef>
            </a:pPr>
            <a:r>
              <a:rPr lang="en-US" sz="1700" dirty="0"/>
              <a:t>Preview constraint: the provisioning preview used here does not support the gateway</a:t>
            </a:r>
          </a:p>
          <a:p>
            <a:pPr>
              <a:spcBef>
                <a:spcPts val="700"/>
              </a:spcBef>
            </a:pPr>
            <a:r>
              <a:rPr lang="en-US" sz="1700" dirty="0"/>
              <a:t>Lab: direct egress with the full allow-list (D-024)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50" dirty="0"/>
              <a:t>Demo: Network ATC intent design, preferably intentional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VLAN isolation and physical convergence are separate decisions; reviewed site evidence maps to approved Network ATC intents.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Three intents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management, compute, storage</a:t>
            </a:r>
          </a:p>
        </p:txBody>
      </p:sp>
      <p:sp>
        <p:nvSpPr>
          <p:cNvPr id="8" name="Card 8"/>
          <p:cNvSpPr/>
          <p:nvPr/>
        </p:nvSpPr>
        <p:spPr>
          <a:xfrm>
            <a:off x="256032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272491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5176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Management/compute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same VLAN, separate VLANs on shared adapters, or dedicated adapters</a:t>
            </a:r>
          </a:p>
        </p:txBody>
      </p:sp>
      <p:sp>
        <p:nvSpPr>
          <p:cNvPr id="11" name="Card 11"/>
          <p:cNvSpPr/>
          <p:nvPr/>
        </p:nvSpPr>
        <p:spPr>
          <a:xfrm>
            <a:off x="466344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482803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5488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Read back the approved choice; map ports/MACs, tagging, MTU and storage/RDMA requirements</a:t>
            </a:r>
          </a:p>
        </p:txBody>
      </p:sp>
      <p:sp>
        <p:nvSpPr>
          <p:cNvPr id="14" name="Card 14"/>
          <p:cNvSpPr/>
          <p:nvPr/>
        </p:nvSpPr>
        <p:spPr>
          <a:xfrm>
            <a:off x="676656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Rule 15"/>
          <p:cNvSpPr/>
          <p:nvPr/>
        </p:nvSpPr>
        <p:spPr>
          <a:xfrm>
            <a:off x="693115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85800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450" b="1" dirty="0">
                <a:solidFill>
                  <a:srgbClr val="98F8FE"/>
                </a:solidFill>
                <a:latin typeface="Roboto"/>
                <a:cs typeface="Roboto"/>
              </a:rPr>
              <a:t>Workload VLANs follow the workloads</a:t>
            </a:r>
          </a:p>
          <a:p>
            <a:pPr>
              <a:spcBef>
                <a:spcPts val="600"/>
              </a:spcBef>
            </a:pPr>
            <a:r>
              <a:rPr lang="en-US" sz="1550" dirty="0">
                <a:solidFill>
                  <a:srgbClr val="C3FBFE"/>
                </a:solidFill>
                <a:latin typeface="Roboto"/>
                <a:cs typeface="Roboto"/>
              </a:rPr>
              <a:t>2204 compute, 2215 AVD, 2216 SOFS, 2217 app, 2218 data, 2219 isolated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8" name="Node 18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20" name="Node 20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2" name="Node 22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4" name="Node 24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6" name="Node 26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8" name="Node 2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Identity, landing zone and naming: future you has to read this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Local Identity with Key Vault, and who may do what.</a:t>
            </a:r>
          </a:p>
        </p:txBody>
      </p:sp>
      <p:sp>
        <p:nvSpPr>
          <p:cNvPr id="4" name="Content 4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650" dirty="0"/>
              <a:t>Local Identity with Key Vault: no domain join, no OU</a:t>
            </a:r>
          </a:p>
          <a:p>
            <a:pPr>
              <a:spcBef>
                <a:spcPts val="700"/>
              </a:spcBef>
            </a:pPr>
            <a:r>
              <a:rPr lang="en-US" sz="1650" dirty="0"/>
              <a:t>Workloads decide their own identity: the SOFS needs AD, so its VMs and the AVD hosts join AD; hybrid users synced by Microsoft Entra Cloud Sync, agent on its own member server</a:t>
            </a:r>
          </a:p>
          <a:p>
            <a:pPr>
              <a:spcBef>
                <a:spcPts val="700"/>
              </a:spcBef>
            </a:pPr>
            <a:r>
              <a:rPr lang="en-US" sz="1650" dirty="0"/>
              <a:t>Dedicated subscription under the landing-zones management group</a:t>
            </a:r>
          </a:p>
          <a:p>
            <a:pPr>
              <a:spcBef>
                <a:spcPts val="700"/>
              </a:spcBef>
            </a:pPr>
            <a:r>
              <a:rPr lang="en-US" sz="1650" dirty="0"/>
              <a:t>Supported with this model: Azure portal, PowerShell, Azure Monitor. Not Windows Admin Center</a:t>
            </a:r>
          </a:p>
          <a:p>
            <a:pPr>
              <a:spcBef>
                <a:spcPts val="700"/>
              </a:spcBef>
            </a:pPr>
            <a:r>
              <a:rPr lang="en-US" sz="1650" dirty="0"/>
              <a:t>Naming: nic26 site token</a:t>
            </a:r>
          </a:p>
          <a:p>
            <a:pPr>
              <a:spcBef>
                <a:spcPts val="700"/>
              </a:spcBef>
            </a:pPr>
            <a:r>
              <a:rPr lang="en-US" sz="1650" dirty="0"/>
              <a:t>Groups, Azure RBAC, PIM eligibility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Continuity, then the go/no-go: Trailwright turns the design into infrastructure.yml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RPO/RTO per tier and the operating requirements decided now.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Azure Backup for all tiers; Site Recovery for tier 1 with a quarterly test</a:t>
            </a:r>
          </a:p>
        </p:txBody>
      </p:sp>
      <p:sp>
        <p:nvSpPr>
          <p:cNvPr id="8" name="Card 8"/>
          <p:cNvSpPr/>
          <p:nvPr/>
        </p:nvSpPr>
        <p:spPr>
          <a:xfrm>
            <a:off x="256032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272491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5176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Monitoring scope and cost ceiling; maintenance windows; update ownership</a:t>
            </a:r>
          </a:p>
        </p:txBody>
      </p:sp>
      <p:sp>
        <p:nvSpPr>
          <p:cNvPr id="11" name="Card 11"/>
          <p:cNvSpPr/>
          <p:nvPr/>
        </p:nvSpPr>
        <p:spPr>
          <a:xfrm>
            <a:off x="466344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482803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5488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Trailwright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the design record, validated, one bad value caught</a:t>
            </a:r>
          </a:p>
        </p:txBody>
      </p:sp>
      <p:sp>
        <p:nvSpPr>
          <p:cNvPr id="14" name="Card 14"/>
          <p:cNvSpPr/>
          <p:nvPr/>
        </p:nvSpPr>
        <p:spPr>
          <a:xfrm>
            <a:off x="676656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Rule 15"/>
          <p:cNvSpPr/>
          <p:nvPr/>
        </p:nvSpPr>
        <p:spPr>
          <a:xfrm>
            <a:off x="693115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85800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Export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infrastructure.yml and a Bicep starting point; a handoff, not the deployment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8" name="Node 18"/>
          <p:cNvSpPr/>
          <p:nvPr/>
        </p:nvSpPr>
        <p:spPr>
          <a:xfrm>
            <a:off x="2948940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20" name="Node 20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2" name="Node 22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4" name="Node 24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6" name="Node 26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8" name="Node 2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Building the ship: Beacon sounds the harbour, two routes to an Arc-registered machine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BUILDING THE SHIP  ·  SECTION 2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Foundation and site checks first, Beacon before any OS; then the machines get an OS and Arc by one of two routes, and the preview...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500" dirty="0"/>
              <a:t>Foundation: resource groups, providers, workspace, Key Vault, witness, spoke, tags, budgets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Beacon before any OS: target disk, network, DNS, Azure endpoints (Environment Checker)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Route A, simplified machine provisioning (preview): Ready to cluster, then Deploy stopped on device-ID Arc names</a:t>
            </a:r>
          </a:p>
          <a:p>
            <a:pPr>
              <a:spcBef>
                <a:spcPts val="700"/>
              </a:spcBef>
            </a:pPr>
            <a:r>
              <a:rPr lang="en-US" sz="1500" dirty="0"/>
              <a:t>Route B, image + drivers + Arc registration (GA): the event cluster; Arc names = host names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BUILDING THE SHIP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3" name="Node 13"/>
          <p:cNvSpPr/>
          <p:nvPr/>
        </p:nvSpPr>
        <p:spPr>
          <a:xfrm>
            <a:off x="3899916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5" name="Node 15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7" name="Node 17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9" name="Node 19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1" name="Node 21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One setting, every layer, and the what-if before the what-have-we-done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250" i="1" dirty="0">
                <a:solidFill>
                  <a:srgbClr val="C3FBFE"/>
                </a:solidFill>
                <a:latin typeface="Roboto"/>
                <a:cs typeface="Roboto"/>
              </a:rPr>
              <a:t>The layers the setting passes through, then a read-only preview of the deployment package.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infrastructure.yml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901952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157984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Bicep parameter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602736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3858768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Portal field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5303520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5559552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Deployment result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7004304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7260336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Validation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What the what-if cannot validate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6" name="Node 1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8" name="Node 18"/>
          <p:cNvSpPr/>
          <p:nvPr/>
        </p:nvSpPr>
        <p:spPr>
          <a:xfrm>
            <a:off x="3899916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0" name="Node 2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2" name="Node 2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4" name="Node 2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6" name="Node 2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deployment time-lapsed, Sonar listening beside it, and the intents running for real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Honest durations, and the real run's steps and logs beside them: the Resource Bridge step alone is 40 to 45 minutes.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1935099"/>
            <a:ext cx="2621280" cy="200025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11797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255139"/>
            <a:ext cx="2438400" cy="15887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Validate about 10 minutes; Deploy 2.5 to 3 hours</a:t>
            </a:r>
          </a:p>
        </p:txBody>
      </p:sp>
      <p:sp>
        <p:nvSpPr>
          <p:cNvPr id="8" name="Card 8"/>
          <p:cNvSpPr/>
          <p:nvPr/>
        </p:nvSpPr>
        <p:spPr>
          <a:xfrm>
            <a:off x="3261360" y="1935099"/>
            <a:ext cx="2621280" cy="200025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3425952" y="211797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52800" y="2255139"/>
            <a:ext cx="2438400" cy="15887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Sonar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every step, its status and duration, and the seed-node logs</a:t>
            </a:r>
          </a:p>
        </p:txBody>
      </p:sp>
      <p:sp>
        <p:nvSpPr>
          <p:cNvPr id="11" name="Card 11"/>
          <p:cNvSpPr/>
          <p:nvPr/>
        </p:nvSpPr>
        <p:spPr>
          <a:xfrm>
            <a:off x="6065520" y="1935099"/>
            <a:ext cx="2621280" cy="200025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6230112" y="211797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156960" y="2255139"/>
            <a:ext cx="2438400" cy="15887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Local Identity bootstrap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node in WORKGROUP, secrets in the vault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5" name="Node 1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7" name="Node 17"/>
          <p:cNvSpPr/>
          <p:nvPr/>
        </p:nvSpPr>
        <p:spPr>
          <a:xfrm>
            <a:off x="3899916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9" name="Node 19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1" name="Node 21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3" name="Node 23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5" name="Node 2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500" dirty="0"/>
              <a:t>Post-deployment validation, then a little red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A healthy deployment is not a Day-2-ready platform.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Validate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Deliberate red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Fix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Green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3" name="Node 13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5" name="Node 15"/>
          <p:cNvSpPr/>
          <p:nvPr/>
        </p:nvSpPr>
        <p:spPr>
          <a:xfrm>
            <a:off x="3899916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7" name="Node 17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9" name="Node 19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1" name="Node 21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3" name="Node 23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200" dirty="0"/>
              <a:t>Making it seaworthy: Monitor, Heimdall and the bill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MAKING IT SEAWORTHY  ·  SECTION 3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The DCR is the cost decision.</a:t>
            </a:r>
          </a:p>
        </p:txBody>
      </p:sp>
      <p:sp>
        <p:nvSpPr>
          <p:cNvPr id="6" name="Content 6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534924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600" dirty="0"/>
              <a:t>Lab workspace law-iic-nic26-eus-01: 30 days, 2 GB/day cap; security data in its own Sentinel workspace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Health, storage, intents, cluster: not the firehose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DCRs do not control every ingestion source</a:t>
            </a:r>
          </a:p>
          <a:p>
            <a:pPr>
              <a:spcBef>
                <a:spcPts val="700"/>
              </a:spcBef>
            </a:pPr>
            <a:r>
              <a:rPr lang="en-US" sz="1600" dirty="0"/>
              <a:t>Preview: Azure Copilot Observability Agent investigates alerts on the same data; billed per use</a:t>
            </a:r>
          </a:p>
        </p:txBody>
      </p:sp>
      <p:sp>
        <p:nvSpPr>
          <p:cNvPr id="7" name="Opener frame 7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Leg chart 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MAKING IT SEAWORTHY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1" name="Node 11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3" name="Node 13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5" name="Node 15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7" name="Node 17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9" name="Node 19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1" name="Node 21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Who updates what, and who told Windows 11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Two update planes, two owners; Windows 11 is a third.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150" dirty="0"/>
              <a:t>Cluster: Lifecycle Manager</a:t>
            </a:r>
          </a:p>
          <a:p>
            <a:pPr>
              <a:spcBef>
                <a:spcPts val="700"/>
              </a:spcBef>
            </a:pPr>
            <a:r>
              <a:rPr lang="en-US" sz="2150" dirty="0"/>
              <a:t>Guests: Azure Update Manager</a:t>
            </a:r>
          </a:p>
          <a:p>
            <a:pPr>
              <a:spcBef>
                <a:spcPts val="700"/>
              </a:spcBef>
            </a:pPr>
            <a:r>
              <a:rPr lang="en-US" sz="2150" dirty="0"/>
              <a:t>Windows 11 clients (the AVD session hosts): Intune or Windows Update for Business</a:t>
            </a:r>
          </a:p>
          <a:p>
            <a:pPr>
              <a:spcBef>
                <a:spcPts val="700"/>
              </a:spcBef>
            </a:pPr>
            <a:r>
              <a:rPr lang="en-US" sz="2150" dirty="0"/>
              <a:t>Maintenance window: Sunday 02:00 US Eastern, first run 18 Oct (after the event); dynamic scope by tag</a:t>
            </a:r>
          </a:p>
          <a:p>
            <a:pPr>
              <a:spcBef>
                <a:spcPts val="700"/>
              </a:spcBef>
            </a:pPr>
            <a:r>
              <a:rPr lang="en-US" sz="2150" dirty="0"/>
              <a:t>No patch run is shown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9" name="Node 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1" name="Node 11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3" name="Node 1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5" name="Node 1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7" name="Node 17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Backup versus DR: hope has no RPO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Backup is recovery in hours; Site Recovery is continuity in minutes.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200" dirty="0"/>
              <a:t>Azure Backup as the worked example; any backup solution applies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Restore tests land on the isolated network, never next to production</a:t>
            </a:r>
          </a:p>
          <a:p>
            <a:pPr>
              <a:spcBef>
                <a:spcPts val="700"/>
              </a:spcBef>
            </a:pPr>
            <a:r>
              <a:rPr lang="en-US" sz="2200" dirty="0"/>
              <a:t>As built: vault and policies in place; Site Recovery replication waits (node preparation needs approval; Trusted launch VMs are not supported)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9" name="Node 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1" name="Node 11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3" name="Node 1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5" name="Node 1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7" name="Node 17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250" dirty="0"/>
              <a:t>Eligible, not standing: access with an audit trail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Operators hold eligible roles, activate with justification and MFA, and every activation leaves an audit entry.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1942719"/>
            <a:ext cx="2621280" cy="198501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12559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262759"/>
            <a:ext cx="2438400" cy="157353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PIM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eligible, not standing; activation with justification and MFA</a:t>
            </a:r>
          </a:p>
        </p:txBody>
      </p:sp>
      <p:sp>
        <p:nvSpPr>
          <p:cNvPr id="8" name="Card 8"/>
          <p:cNvSpPr/>
          <p:nvPr/>
        </p:nvSpPr>
        <p:spPr>
          <a:xfrm>
            <a:off x="3261360" y="1942719"/>
            <a:ext cx="2621280" cy="198501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3425952" y="212559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52800" y="2262759"/>
            <a:ext cx="2438400" cy="157353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Azure Local administrator, VM contributor and VM reader roles scoped to the landing zone</a:t>
            </a:r>
          </a:p>
        </p:txBody>
      </p:sp>
      <p:sp>
        <p:nvSpPr>
          <p:cNvPr id="11" name="Card 11"/>
          <p:cNvSpPr/>
          <p:nvPr/>
        </p:nvSpPr>
        <p:spPr>
          <a:xfrm>
            <a:off x="6065520" y="1942719"/>
            <a:ext cx="2621280" cy="198501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6230112" y="212559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156960" y="2262759"/>
            <a:ext cx="2438400" cy="157353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The audit entry is the evidence, not the activation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5" name="Node 1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7" name="Node 17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9" name="Node 19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1" name="Node 21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3" name="Node 23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5" name="Node 25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One policy set, Defender for Cloud on everything: the security baseline as production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Policy audits and inherits tags at subscription scope; Defender for Cloud covers the cluster and every Arc-enabled VM on it.</a:t>
            </a:r>
          </a:p>
        </p:txBody>
      </p:sp>
      <p:sp>
        <p:nvSpPr>
          <p:cNvPr id="5" name="Content 5"/>
          <p:cNvSpPr>
            <a:spLocks noGrp="1"/>
          </p:cNvSpPr>
          <p:nvPr>
            <p:ph type="body" sz="quarter" idx="10"/>
          </p:nvPr>
        </p:nvSpPr>
        <p:spPr>
          <a:xfrm>
            <a:off x="457200" y="1517904"/>
            <a:ext cx="8229600" cy="2926080"/>
          </a:xfrm>
        </p:spPr>
        <p:txBody>
          <a:bodyPr anchor="t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1800" dirty="0"/>
              <a:t>Policy at subscription scope on both landing zones: audit, not block; tags inherited; activity log and security events to the Sentinel workspace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Defender CSPM, Defender for Servers P2, Storage, Key Vault, Resource Manager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Azure Local machines exempt from per-machine agent policy: the agent is a cluster extension</a:t>
            </a:r>
          </a:p>
          <a:p>
            <a:pPr>
              <a:spcBef>
                <a:spcPts val="700"/>
              </a:spcBef>
            </a:pPr>
            <a:r>
              <a:rPr lang="en-US" sz="1800" dirty="0"/>
              <a:t>Compliance evaluation is not instant: show the existing result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9" name="Node 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1" name="Node 11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3" name="Node 1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5" name="Node 1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7" name="Node 17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Microsoft Sentinel: the security log gets its own workspace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Sentinel on a dedicated workspace with the Defender for Cloud, Azure Activity, Entra ID and Windows Security Events connectors...</a:t>
            </a:r>
          </a:p>
        </p:txBody>
      </p:sp>
      <p:sp>
        <p:nvSpPr>
          <p:cNvPr id="4" name="Card 4"/>
          <p:cNvSpPr/>
          <p:nvPr/>
        </p:nvSpPr>
        <p:spPr>
          <a:xfrm>
            <a:off x="45720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Rule 5"/>
          <p:cNvSpPr/>
          <p:nvPr/>
        </p:nvSpPr>
        <p:spPr>
          <a:xfrm>
            <a:off x="62179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Dedicated workspace, 90 days, its own daily cap and alerts</a:t>
            </a:r>
          </a:p>
        </p:txBody>
      </p:sp>
      <p:sp>
        <p:nvSpPr>
          <p:cNvPr id="7" name="Card 7"/>
          <p:cNvSpPr/>
          <p:nvPr/>
        </p:nvSpPr>
        <p:spPr>
          <a:xfrm>
            <a:off x="256032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8"/>
          <p:cNvSpPr/>
          <p:nvPr/>
        </p:nvSpPr>
        <p:spPr>
          <a:xfrm>
            <a:off x="272491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65176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1A1B1B"/>
                </a:solidFill>
                <a:latin typeface="Roboto"/>
                <a:cs typeface="Roboto"/>
              </a:rPr>
              <a:t>Connectors</a:t>
            </a:r>
          </a:p>
          <a:p>
            <a:pPr>
              <a:spcBef>
                <a:spcPts val="600"/>
              </a:spcBef>
            </a:pPr>
            <a:r>
              <a:rPr lang="en-US" sz="1550" dirty="0">
                <a:solidFill>
                  <a:srgbClr val="193233"/>
                </a:solidFill>
                <a:latin typeface="Roboto"/>
                <a:cs typeface="Roboto"/>
              </a:rPr>
              <a:t>Defender for Cloud, Azure Activity, Microsoft Entra ID, Windows Security Events (AMA)</a:t>
            </a:r>
          </a:p>
        </p:txBody>
      </p:sp>
      <p:sp>
        <p:nvSpPr>
          <p:cNvPr id="10" name="Card 10"/>
          <p:cNvSpPr/>
          <p:nvPr/>
        </p:nvSpPr>
        <p:spPr>
          <a:xfrm>
            <a:off x="466344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11"/>
          <p:cNvSpPr/>
          <p:nvPr/>
        </p:nvSpPr>
        <p:spPr>
          <a:xfrm>
            <a:off x="482803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5488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1A1B1B"/>
                </a:solidFill>
                <a:latin typeface="Roboto"/>
                <a:cs typeface="Roboto"/>
              </a:rPr>
              <a:t>Analytics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193233"/>
                </a:solidFill>
                <a:latin typeface="Roboto"/>
                <a:cs typeface="Roboto"/>
              </a:rPr>
              <a:t>starter rules plus Fusion and Defender incident creation</a:t>
            </a:r>
          </a:p>
        </p:txBody>
      </p:sp>
      <p:sp>
        <p:nvSpPr>
          <p:cNvPr id="13" name="Card 13"/>
          <p:cNvSpPr/>
          <p:nvPr/>
        </p:nvSpPr>
        <p:spPr>
          <a:xfrm>
            <a:off x="676656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ule 14"/>
          <p:cNvSpPr/>
          <p:nvPr/>
        </p:nvSpPr>
        <p:spPr>
          <a:xfrm>
            <a:off x="693115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85800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One incident, from alert to the entity, in one glance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7" name="Node 1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9" name="Node 1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1" name="Node 21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3" name="Node 2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5" name="Node 2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7" name="Node 27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workload platform: six logical networks, a rule book each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250" i="1" dirty="0">
                <a:solidFill>
                  <a:srgbClr val="C3FBFE"/>
                </a:solidFill>
                <a:latin typeface="Roboto"/>
                <a:cs typeface="Roboto"/>
              </a:rPr>
              <a:t>SDN enabled by Arc puts an NSG on every logical network, managed from Azure like the VMs.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57200" y="1517904"/>
          <a:ext cx="8229600" cy="2758821"/>
        </p:xfrm>
        <a:graphic>
          <a:graphicData uri="http://schemas.openxmlformats.org/drawingml/2006/table">
            <a:tbl>
              <a:tblPr firstRow="1"/>
              <a:tblGrid>
                <a:gridCol w="2848708"/>
                <a:gridCol w="633046"/>
                <a:gridCol w="2057400"/>
                <a:gridCol w="2690446"/>
              </a:tblGrid>
              <a:tr h="29070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Logical network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VLAN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Workload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NSG admits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98F8FE"/>
                    </a:solidFill>
                  </a:tcPr>
                </a:tc>
              </a:tr>
              <a:tr h="43548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lnet-iic-nic26-compute-vlan2204-eus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2204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General VMs, demo and ASR source VMs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Admin (RDP, WinRM, SSH, ICMP), internal web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43548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lnet-iic-nic26-avd-vlan2215-eus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2215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AVD session hosts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RDP Shortpath from P2S, break-glass RDP; never the data tier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  <a:tr h="43548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lnet-iic-nic26-sofs-vlan2216-eus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2216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SOFS for FSLogix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SMB and SMB Witness from the AVD network only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43548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lnet-iic-nic26-app-vlan2217-eus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2217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IIC app tier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Web 80/443 from internal and P2S; admin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  <a:tr h="43548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lnet-iic-nic26-data-vlan2218-eus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2218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IIC data tier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1433 from the app tier (and jump hosts); never initiates to desktops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262929"/>
                    </a:solidFill>
                  </a:tcPr>
                </a:tc>
              </a:tr>
              <a:tr h="290703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lnet-iic-nic26-isolated-vlan2219-eus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2219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Restore and migration tests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E8FEFF"/>
                          </a:solidFill>
                          <a:latin typeface="Roboto"/>
                          <a:cs typeface="Roboto"/>
                        </a:rPr>
                        <a:t>DNS and itself only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98F8FE"/>
                      </a:solidFill>
                    </a:lnL>
                    <a:lnR w="9525">
                      <a:solidFill>
                        <a:srgbClr val="98F8FE"/>
                      </a:solidFill>
                    </a:lnR>
                    <a:lnT w="9525">
                      <a:solidFill>
                        <a:srgbClr val="98F8FE"/>
                      </a:solidFill>
                    </a:lnT>
                    <a:lnB w="9525">
                      <a:solidFill>
                        <a:srgbClr val="98F8FE"/>
                      </a:solidFill>
                    </a:lnB>
                    <a:solidFill>
                      <a:srgbClr val="1F2222"/>
                    </a:solidFill>
                  </a:tcPr>
                </a:tc>
              </a:tr>
            </a:tbl>
          </a:graphicData>
        </a:graphic>
      </p:graphicFrame>
      <p:cxnSp>
        <p:nvCxnSpPr>
          <p:cNvPr id="6" name="Line 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7" name="Node 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9" name="Node 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1" name="Node 11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3" name="Node 1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5" name="Node 1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7" name="Node 17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Storage for the cargo: fixed volumes, a repair reserve and a two-VM SOFS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193233"/>
                </a:solidFill>
                <a:latin typeface="Roboto"/>
                <a:cs typeface="Roboto"/>
              </a:rPr>
              <a:t>Four fixed two-way mirror volumes sized for every VM both sessions use; one drive per node never allocated; the SOFS as two VMs,...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7200" y="1517904"/>
          <a:ext cx="8229600" cy="2508885"/>
        </p:xfrm>
        <a:graphic>
          <a:graphicData uri="http://schemas.openxmlformats.org/drawingml/2006/table">
            <a:tbl>
              <a:tblPr firstRow="1"/>
              <a:tblGrid>
                <a:gridCol w="1828800"/>
                <a:gridCol w="1676400"/>
                <a:gridCol w="2895600"/>
                <a:gridCol w="1828800"/>
              </a:tblGrid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Volume or service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Size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Holds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98F8FE"/>
                          </a:solidFill>
                          <a:latin typeface="Roboto"/>
                          <a:cs typeface="Roboto"/>
                        </a:rPr>
                        <a:t>Storage path or check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193233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vmstore-01 / vmstore-02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2.5 TiB each, fixed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AVD session hosts, IIC VMs, demo and ASR VMs, images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One per volume, plus one for images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sofs-01 / sofs-02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1.5 TiB each, fixed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One SOFS VM each: OS + 4 × 256 GB data disks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One per volume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  <a:tr h="62979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SOFS as built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nic26-sofs-cl, two VMs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Guest two-way mirror FSLogixData 720 GiB; share \\nic26-sofs.azurelocal.mgmt\Profiles, continuously available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44 of 44 read-back checks passed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Repair reserve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One capacity drive per node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Never allocated: the drive fault repairs into it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1A1B1B"/>
                          </a:solidFill>
                          <a:latin typeface="Roboto"/>
                          <a:cs typeface="Roboto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9525">
                      <a:solidFill>
                        <a:srgbClr val="193233"/>
                      </a:solidFill>
                    </a:lnL>
                    <a:lnR w="9525">
                      <a:solidFill>
                        <a:srgbClr val="193233"/>
                      </a:solidFill>
                    </a:lnR>
                    <a:lnT w="9525">
                      <a:solidFill>
                        <a:srgbClr val="193233"/>
                      </a:solidFill>
                    </a:lnT>
                    <a:lnB w="9525">
                      <a:solidFill>
                        <a:srgbClr val="193233"/>
                      </a:solidFill>
                    </a:lnB>
                    <a:solidFill>
                      <a:srgbClr val="E3FDFF"/>
                    </a:solidFill>
                  </a:tcPr>
                </a:tc>
              </a:tr>
            </a:tbl>
          </a:graphicData>
        </a:graphic>
      </p:graphicFrame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The readiness gate: evidence, not hope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Operational acceptance is verified controls, not configured ones.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2249424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43230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569464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Configured · Pending evidence · Verified · Failed · Not applicable</a:t>
            </a:r>
          </a:p>
        </p:txBody>
      </p:sp>
      <p:sp>
        <p:nvSpPr>
          <p:cNvPr id="8" name="Card 8"/>
          <p:cNvSpPr/>
          <p:nvPr/>
        </p:nvSpPr>
        <p:spPr>
          <a:xfrm>
            <a:off x="4663440" y="2249424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4828032" y="243230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754880" y="2569464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Platform validation and operational acceptance are separate gates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2" name="Node 12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4" name="Node 14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6" name="Node 16"/>
          <p:cNvSpPr/>
          <p:nvPr/>
        </p:nvSpPr>
        <p:spPr>
          <a:xfrm>
            <a:off x="4850892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8" name="Node 18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0" name="Node 20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2" name="Node 22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Loading the cargo with Azure Migrate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LOADING THE CARGO  ·  SECTION 3B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Assessed, migrated, operated: one inventory through the lifecycle.</a:t>
            </a:r>
          </a:p>
        </p:txBody>
      </p:sp>
      <p:sp>
        <p:nvSpPr>
          <p:cNvPr id="6" name="Box 6"/>
          <p:cNvSpPr/>
          <p:nvPr/>
        </p:nvSpPr>
        <p:spPr>
          <a:xfrm>
            <a:off x="457200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Assess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1325880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8" name="Box 8"/>
          <p:cNvSpPr/>
          <p:nvPr/>
        </p:nvSpPr>
        <p:spPr>
          <a:xfrm>
            <a:off x="1581912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Replicate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2450592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0" name="Box 10"/>
          <p:cNvSpPr/>
          <p:nvPr/>
        </p:nvSpPr>
        <p:spPr>
          <a:xfrm>
            <a:off x="2706624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Test migrate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3575304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2" name="Box 12"/>
          <p:cNvSpPr/>
          <p:nvPr/>
        </p:nvSpPr>
        <p:spPr>
          <a:xfrm>
            <a:off x="3831336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Cutover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4700016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4" name="Box 14"/>
          <p:cNvSpPr/>
          <p:nvPr/>
        </p:nvSpPr>
        <p:spPr>
          <a:xfrm>
            <a:off x="4956048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Operate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40080" y="2752344"/>
            <a:ext cx="498348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Prepare, discover, target appliance on the cluster, replicate, migrate, verify, complete</a:t>
            </a:r>
          </a:p>
        </p:txBody>
      </p:sp>
      <p:sp>
        <p:nvSpPr>
          <p:cNvPr id="16" name="Opener frame 1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7" name="Leg chart 1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LOADING THE CARGO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20" name="Node 2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22" name="Node 22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4" name="Node 24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6" name="Node 26"/>
          <p:cNvSpPr/>
          <p:nvPr/>
        </p:nvSpPr>
        <p:spPr>
          <a:xfrm>
            <a:off x="5801868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8" name="Node 28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30" name="Node 3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Weathering the storm: Lifecycle Manager, one update train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98F8FE"/>
                </a:solidFill>
                <a:latin typeface="Roboto"/>
                <a:cs typeface="Roboto"/>
              </a:rPr>
              <a:t>WEATHERING THE STORM  ·  SECTION 4</a:t>
            </a:r>
          </a:p>
        </p:txBody>
      </p:sp>
      <p:sp>
        <p:nvSpPr>
          <p:cNvPr id="4" name="Demo tag 4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100" i="1" dirty="0">
                <a:solidFill>
                  <a:srgbClr val="C3FBFE"/>
                </a:solidFill>
                <a:latin typeface="Roboto"/>
                <a:cs typeface="Roboto"/>
              </a:rPr>
              <a:t>Entry conditions for the operating loop, then one update train with readiness checks before and after.</a:t>
            </a:r>
          </a:p>
        </p:txBody>
      </p:sp>
      <p:sp>
        <p:nvSpPr>
          <p:cNvPr id="6" name="Box 6"/>
          <p:cNvSpPr/>
          <p:nvPr/>
        </p:nvSpPr>
        <p:spPr>
          <a:xfrm>
            <a:off x="457200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Discover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1325880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8" name="Box 8"/>
          <p:cNvSpPr/>
          <p:nvPr/>
        </p:nvSpPr>
        <p:spPr>
          <a:xfrm>
            <a:off x="1581912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Download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2450592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0" name="Box 10"/>
          <p:cNvSpPr/>
          <p:nvPr/>
        </p:nvSpPr>
        <p:spPr>
          <a:xfrm>
            <a:off x="2706624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Health check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3575304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2" name="Box 12"/>
          <p:cNvSpPr/>
          <p:nvPr/>
        </p:nvSpPr>
        <p:spPr>
          <a:xfrm>
            <a:off x="3831336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Update node by node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4700016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4" name="Box 14"/>
          <p:cNvSpPr/>
          <p:nvPr/>
        </p:nvSpPr>
        <p:spPr>
          <a:xfrm>
            <a:off x="4956048" y="1563624"/>
            <a:ext cx="850392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Validate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40080" y="2752344"/>
            <a:ext cx="498348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550" dirty="0">
                <a:solidFill>
                  <a:srgbClr val="98F8FE"/>
                </a:solidFill>
                <a:latin typeface="Roboto"/>
                <a:cs typeface="Roboto"/>
              </a:rPr>
              <a:t>A precheck that blocks progress; the decision to proceed or stop; post-update evidence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550" dirty="0">
                <a:solidFill>
                  <a:srgbClr val="98F8FE"/>
                </a:solidFill>
                <a:latin typeface="Roboto"/>
                <a:cs typeface="Roboto"/>
              </a:rPr>
              <a:t>Under the storm: the AVD session hosts, the SOFS profile shares and the IIC tiers</a:t>
            </a:r>
          </a:p>
        </p:txBody>
      </p:sp>
      <p:sp>
        <p:nvSpPr>
          <p:cNvPr id="16" name="Opener frame 1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7" name="Leg chart 1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98F8FE"/>
                </a:solidFill>
                <a:latin typeface="Roboto"/>
                <a:cs typeface="Roboto"/>
              </a:rPr>
              <a:t>YOU ARE HERE  ·  WEATHERING THE STORM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20" name="Node 2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22" name="Node 22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4" name="Node 24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6" name="Node 26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8" name="Node 28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30" name="Node 30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Fault diagnosis: the shape, and a drive retired by software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Symptom, signal, differential diagnosis, action, recovery evidence.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Symptom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901952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157984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Signal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602736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3858768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Diagnosis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5303520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5559552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Action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7004304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3" name="Box 13"/>
          <p:cNvSpPr/>
          <p:nvPr/>
        </p:nvSpPr>
        <p:spPr>
          <a:xfrm>
            <a:off x="7260336" y="1563624"/>
            <a:ext cx="1426464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Recovery evidence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Recovery is the repair finished and redundancy restored, not a cleared alert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Software-induced: an administrative retire, not a physical failure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Does not test: physical failure signals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6" name="Node 1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8" name="Node 1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0" name="Node 2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2" name="Node 2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4" name="Node 24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6" name="Node 26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agent proposes, the engineer decides: an investigation from the rehearsal run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000" i="1" dirty="0">
                <a:solidFill>
                  <a:srgbClr val="C3FBFE"/>
                </a:solidFill>
                <a:latin typeface="Roboto"/>
                <a:cs typeface="Roboto"/>
              </a:rPr>
              <a:t>The Observability Agent (preview) takes the signal and the diagnosis steps; recovery evidence is still the repair finished.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1691259"/>
            <a:ext cx="1920240" cy="24879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18741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011299"/>
            <a:ext cx="1737360" cy="20764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Preview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Azure Copilot Observability Agent</a:t>
            </a:r>
          </a:p>
        </p:txBody>
      </p:sp>
      <p:sp>
        <p:nvSpPr>
          <p:cNvPr id="8" name="Card 8"/>
          <p:cNvSpPr/>
          <p:nvPr/>
        </p:nvSpPr>
        <p:spPr>
          <a:xfrm>
            <a:off x="2560320" y="1691259"/>
            <a:ext cx="1920240" cy="24879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2724912" y="18741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51760" y="2011299"/>
            <a:ext cx="1737360" cy="20764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Alert from the rehearsal run of the same fault, labelled with its date</a:t>
            </a:r>
          </a:p>
        </p:txBody>
      </p:sp>
      <p:sp>
        <p:nvSpPr>
          <p:cNvPr id="11" name="Card 11"/>
          <p:cNvSpPr/>
          <p:nvPr/>
        </p:nvSpPr>
        <p:spPr>
          <a:xfrm>
            <a:off x="4663440" y="1691259"/>
            <a:ext cx="1920240" cy="24879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Rule 12"/>
          <p:cNvSpPr/>
          <p:nvPr/>
        </p:nvSpPr>
        <p:spPr>
          <a:xfrm>
            <a:off x="4828032" y="18741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54880" y="2011299"/>
            <a:ext cx="1737360" cy="20764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600" b="1" dirty="0">
                <a:solidFill>
                  <a:srgbClr val="98F8FE"/>
                </a:solidFill>
                <a:latin typeface="Roboto"/>
                <a:cs typeface="Roboto"/>
              </a:rPr>
              <a:t>Plan shown, not confirmed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a confirmed deep investigation is billed</a:t>
            </a:r>
          </a:p>
        </p:txBody>
      </p:sp>
      <p:sp>
        <p:nvSpPr>
          <p:cNvPr id="14" name="Card 14"/>
          <p:cNvSpPr/>
          <p:nvPr/>
        </p:nvSpPr>
        <p:spPr>
          <a:xfrm>
            <a:off x="6766560" y="1691259"/>
            <a:ext cx="1920240" cy="248793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Rule 15"/>
          <p:cNvSpPr/>
          <p:nvPr/>
        </p:nvSpPr>
        <p:spPr>
          <a:xfrm>
            <a:off x="6931152" y="187413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858000" y="2011299"/>
            <a:ext cx="1737360" cy="207645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Saved investigation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affected components, ruled-out hypotheses, next steps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8" name="Node 18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20" name="Node 20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2" name="Node 22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4" name="Node 24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6" name="Node 26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8" name="Node 28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Intent drift remediated, and a node lost with quorum intact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Two incidents, two failure domains: symptom, diagnostic evidence, response, outcome.</a:t>
            </a:r>
          </a:p>
        </p:txBody>
      </p:sp>
      <p:sp>
        <p:nvSpPr>
          <p:cNvPr id="5" name="Card 5"/>
          <p:cNvSpPr/>
          <p:nvPr/>
        </p:nvSpPr>
        <p:spPr>
          <a:xfrm>
            <a:off x="457200" y="2064639"/>
            <a:ext cx="4023360" cy="174117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Rule 6"/>
          <p:cNvSpPr/>
          <p:nvPr/>
        </p:nvSpPr>
        <p:spPr>
          <a:xfrm>
            <a:off x="621792" y="224751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2384679"/>
            <a:ext cx="3840480" cy="13296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98F8FE"/>
                </a:solidFill>
                <a:latin typeface="Roboto"/>
                <a:cs typeface="Roboto"/>
              </a:rPr>
              <a:t>Not live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C3FBFE"/>
                </a:solidFill>
                <a:latin typeface="Roboto"/>
                <a:cs typeface="Roboto"/>
              </a:rPr>
              <a:t>no redundancy to spare, and the BMC path may share the VPN</a:t>
            </a:r>
          </a:p>
        </p:txBody>
      </p:sp>
      <p:sp>
        <p:nvSpPr>
          <p:cNvPr id="8" name="Card 8"/>
          <p:cNvSpPr/>
          <p:nvPr/>
        </p:nvSpPr>
        <p:spPr>
          <a:xfrm>
            <a:off x="4663440" y="2064639"/>
            <a:ext cx="4023360" cy="1741170"/>
          </a:xfrm>
          <a:prstGeom prst="roundRect">
            <a:avLst>
              <a:gd name="adj" fmla="val 6000"/>
            </a:avLst>
          </a:prstGeom>
          <a:solidFill>
            <a:srgbClr val="262929"/>
          </a:solidFill>
          <a:ln w="19050">
            <a:solidFill>
              <a:srgbClr val="98F8FE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Rule 9"/>
          <p:cNvSpPr/>
          <p:nvPr/>
        </p:nvSpPr>
        <p:spPr>
          <a:xfrm>
            <a:off x="4828032" y="2247519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754880" y="2384679"/>
            <a:ext cx="3840480" cy="13296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The GPU host al03 restarts rather than moves: DDA does not live-migrate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2" name="Node 12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4" name="Node 14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6" name="Node 16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8" name="Node 18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0" name="Node 20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2" name="Node 22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Capacity is a decision; the VM lifecycle runs through Arc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DEMOS ·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Constraint, admission decision, VM action, resulting capacity state.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Capacity constraint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Admission decision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VM action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Resulting headroom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Adding a third node changes resiliency and intents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6" name="Node 16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8" name="Node 18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0" name="Node 20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2" name="Node 22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4" name="Node 2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350" dirty="0"/>
              <a:t>Planned Site Recovery failover: a small Ragnarok</a:t>
            </a:r>
          </a:p>
        </p:txBody>
      </p:sp>
      <p:sp>
        <p:nvSpPr>
          <p:cNvPr id="3" name="Demo tag 3"/>
          <p:cNvSpPr/>
          <p:nvPr/>
        </p:nvSpPr>
        <p:spPr>
          <a:xfrm>
            <a:off x="7040880" y="6400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DBA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A1B1B"/>
                </a:solidFill>
                <a:latin typeface="Roboto"/>
                <a:cs typeface="Roboto"/>
              </a:rPr>
              <a:t>LIVE DEMO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C3FBFE"/>
                </a:solidFill>
                <a:latin typeface="Roboto"/>
                <a:cs typeface="Roboto"/>
              </a:rPr>
              <a:t>Source, replication path, Azure target; the job starts now and may not land in time.</a:t>
            </a:r>
          </a:p>
        </p:txBody>
      </p:sp>
      <p:sp>
        <p:nvSpPr>
          <p:cNvPr id="5" name="Box 5"/>
          <p:cNvSpPr/>
          <p:nvPr/>
        </p:nvSpPr>
        <p:spPr>
          <a:xfrm>
            <a:off x="45720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Source cluster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32714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7" name="Box 7"/>
          <p:cNvSpPr/>
          <p:nvPr/>
        </p:nvSpPr>
        <p:spPr>
          <a:xfrm>
            <a:off x="258318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Replication path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45312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9" name="Box 9"/>
          <p:cNvSpPr/>
          <p:nvPr/>
        </p:nvSpPr>
        <p:spPr>
          <a:xfrm>
            <a:off x="470916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262929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98F8FE"/>
                </a:solidFill>
                <a:latin typeface="Roboto"/>
                <a:cs typeface="Roboto"/>
              </a:rPr>
              <a:t>Azure target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6579108" y="2020824"/>
            <a:ext cx="237744" cy="0"/>
          </a:xfrm>
          <a:prstGeom prst="line">
            <a:avLst/>
          </a:prstGeom>
          <a:ln w="25400">
            <a:solidFill>
              <a:srgbClr val="FDBA12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835140" y="1563624"/>
            <a:ext cx="1851660" cy="914400"/>
          </a:xfrm>
          <a:prstGeom prst="roundRect">
            <a:avLst>
              <a:gd name="adj" fmla="val 9000"/>
            </a:avLst>
          </a:prstGeom>
          <a:solidFill>
            <a:srgbClr val="98F8FE"/>
          </a:solidFill>
          <a:ln w="15875">
            <a:solidFill>
              <a:srgbClr val="98F8FE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A1B1B"/>
                </a:solidFill>
                <a:latin typeface="Roboto"/>
                <a:cs typeface="Roboto"/>
              </a:rPr>
              <a:t>Failover job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40080" y="2752344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Completion is not guaranteed during the talk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98F8FE"/>
                </a:solidFill>
                <a:latin typeface="Roboto"/>
                <a:cs typeface="Roboto"/>
              </a:rPr>
              <a:t>Azure Local integration with Site Recovery: confirm its status on the day (Learn lists it as preview)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4B6B6D"/>
            </a:solidFill>
          </a:ln>
        </p:spPr>
      </p:cxnSp>
      <p:sp>
        <p:nvSpPr>
          <p:cNvPr id="14" name="Node 14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6" name="Node 16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8" name="Node 18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0" name="Node 20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2" name="Node 22"/>
          <p:cNvSpPr/>
          <p:nvPr/>
        </p:nvSpPr>
        <p:spPr>
          <a:xfrm>
            <a:off x="6752844" y="4805172"/>
            <a:ext cx="137160" cy="137160"/>
          </a:xfrm>
          <a:prstGeom prst="ellipse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98F8FE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4" name="Node 24"/>
          <p:cNvSpPr/>
          <p:nvPr/>
        </p:nvSpPr>
        <p:spPr>
          <a:xfrm>
            <a:off x="7731252" y="4832604"/>
            <a:ext cx="82296" cy="82296"/>
          </a:xfrm>
          <a:prstGeom prst="ellipse">
            <a:avLst/>
          </a:prstGeom>
          <a:solidFill>
            <a:srgbClr val="4B6B6D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A9D3D6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A9D3D6"/>
                </a:solidFill>
                <a:latin typeface="Roboto"/>
                <a:cs typeface="Robo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250" dirty="0"/>
              <a:t>Safe harbour: the failover result, not just relief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640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/>
            <a:r>
              <a:rPr lang="en-US" sz="800" b="1" spc="120" dirty="0">
                <a:solidFill>
                  <a:srgbClr val="193233"/>
                </a:solidFill>
                <a:latin typeface="Roboto"/>
                <a:cs typeface="Roboto"/>
              </a:rPr>
              <a:t>SAFE HARBOUR  ·  SECTION 5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700784"/>
            <a:ext cx="53492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1B1B"/>
                </a:solidFill>
                <a:latin typeface="Roboto"/>
                <a:cs typeface="Roboto"/>
              </a:rPr>
              <a:t>Inspect the landed job, or play the labelled recording.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3392424"/>
            <a:ext cx="51663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700" dirty="0">
                <a:solidFill>
                  <a:srgbClr val="193233"/>
                </a:solidFill>
                <a:latin typeface="Roboto"/>
                <a:cs typeface="Roboto"/>
              </a:rPr>
              <a:t>If it did not land: labelled recorded completed failover</a:t>
            </a:r>
          </a:p>
        </p:txBody>
      </p:sp>
      <p:sp>
        <p:nvSpPr>
          <p:cNvPr id="6" name="Opener frame 6"/>
          <p:cNvSpPr/>
          <p:nvPr/>
        </p:nvSpPr>
        <p:spPr>
          <a:xfrm>
            <a:off x="5961888" y="1490472"/>
            <a:ext cx="2752344" cy="1572768"/>
          </a:xfrm>
          <a:prstGeom prst="rect">
            <a:avLst/>
          </a:prstGeom>
          <a:noFill/>
          <a:ln w="9525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Leg chart 7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89320" y="1517904"/>
            <a:ext cx="2697480" cy="1517904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5989320" y="30906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00" b="1" spc="100" dirty="0">
                <a:solidFill>
                  <a:srgbClr val="193233"/>
                </a:solidFill>
                <a:latin typeface="Roboto"/>
                <a:cs typeface="Roboto"/>
              </a:rPr>
              <a:t>YOU ARE HERE  ·  SAFE HARBOUR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0" name="Node 10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2" name="Node 12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4" name="Node 14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6" name="Node 16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8" name="Node 18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0" name="Node 20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000" dirty="0"/>
              <a:t>The voyage in one slide: every decision now running, and the cargo you take home</a:t>
            </a:r>
          </a:p>
        </p:txBody>
      </p:sp>
      <p:pic>
        <p:nvPicPr>
          <p:cNvPr id="3" name="Chart 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48384" y="1097280"/>
            <a:ext cx="6047232" cy="3401568"/>
          </a:xfrm>
          <a:prstGeom prst="rect">
            <a:avLst/>
          </a:prstGeom>
        </p:spPr>
      </p:pic>
      <p:cxnSp>
        <p:nvCxnSpPr>
          <p:cNvPr id="4" name="Line 4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5" name="Node 5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7" name="Node 7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9" name="Node 9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1" name="Node 11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3" name="Node 13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5" name="Node 15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500" dirty="0"/>
              <a:t>You may also like: more sagas worth your time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300" i="1" dirty="0">
                <a:solidFill>
                  <a:srgbClr val="193233"/>
                </a:solidFill>
                <a:latin typeface="Roboto"/>
                <a:cs typeface="Roboto"/>
              </a:rPr>
              <a:t>Three other NIC 2026 sessions that complement this one.</a:t>
            </a:r>
          </a:p>
        </p:txBody>
      </p:sp>
      <p:sp>
        <p:nvSpPr>
          <p:cNvPr id="4" name="Card 4"/>
          <p:cNvSpPr/>
          <p:nvPr/>
        </p:nvSpPr>
        <p:spPr>
          <a:xfrm>
            <a:off x="45720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Rule 5"/>
          <p:cNvSpPr/>
          <p:nvPr/>
        </p:nvSpPr>
        <p:spPr>
          <a:xfrm>
            <a:off x="62179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700" b="1" dirty="0">
                <a:solidFill>
                  <a:srgbClr val="1A1B1B"/>
                </a:solidFill>
                <a:latin typeface="Roboto"/>
                <a:cs typeface="Roboto"/>
              </a:rPr>
              <a:t>Behind the Patch</a:t>
            </a:r>
          </a:p>
          <a:p>
            <a:pPr>
              <a:spcBef>
                <a:spcPts val="600"/>
              </a:spcBef>
            </a:pPr>
            <a:r>
              <a:rPr lang="en-US" sz="1450" dirty="0">
                <a:solidFill>
                  <a:srgbClr val="193233"/>
                </a:solidFill>
                <a:latin typeface="Roboto"/>
                <a:cs typeface="Roboto"/>
              </a:rPr>
              <a:t>A Deep Dive into Azure Update Manager (Wim Matthyssen, L400, Thu 11:10 am, Room 2)</a:t>
            </a:r>
          </a:p>
        </p:txBody>
      </p:sp>
      <p:sp>
        <p:nvSpPr>
          <p:cNvPr id="7" name="Card 7"/>
          <p:cNvSpPr/>
          <p:nvPr/>
        </p:nvSpPr>
        <p:spPr>
          <a:xfrm>
            <a:off x="256032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ule 8"/>
          <p:cNvSpPr/>
          <p:nvPr/>
        </p:nvSpPr>
        <p:spPr>
          <a:xfrm>
            <a:off x="272491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65176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Migrating from VMWare to Azure Local with Azure Migrate (Jan-Tore Pedersen, L300, Thu 1:00 pm, Room 2)</a:t>
            </a:r>
          </a:p>
        </p:txBody>
      </p:sp>
      <p:sp>
        <p:nvSpPr>
          <p:cNvPr id="10" name="Card 10"/>
          <p:cNvSpPr/>
          <p:nvPr/>
        </p:nvSpPr>
        <p:spPr>
          <a:xfrm>
            <a:off x="466344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Rule 11"/>
          <p:cNvSpPr/>
          <p:nvPr/>
        </p:nvSpPr>
        <p:spPr>
          <a:xfrm>
            <a:off x="482803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5488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1A1B1B"/>
                </a:solidFill>
                <a:latin typeface="Roboto"/>
                <a:cs typeface="Roboto"/>
              </a:rPr>
              <a:t>Who Broke Production? Ask the Agent (Marius Sandbu, L400, Thu 3:40 pm, Room 3)</a:t>
            </a:r>
          </a:p>
        </p:txBody>
      </p:sp>
      <p:sp>
        <p:nvSpPr>
          <p:cNvPr id="13" name="Card 13"/>
          <p:cNvSpPr/>
          <p:nvPr/>
        </p:nvSpPr>
        <p:spPr>
          <a:xfrm>
            <a:off x="6766560" y="1609344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93233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ule 14"/>
          <p:cNvSpPr/>
          <p:nvPr/>
        </p:nvSpPr>
        <p:spPr>
          <a:xfrm>
            <a:off x="6931152" y="1792224"/>
            <a:ext cx="457200" cy="64008"/>
          </a:xfrm>
          <a:prstGeom prst="rect">
            <a:avLst/>
          </a:prstGeom>
          <a:solidFill>
            <a:srgbClr val="FDBA12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858000" y="1929384"/>
            <a:ext cx="1737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/>
            <a:r>
              <a:rPr lang="en-US" sz="1450" b="1" dirty="0">
                <a:solidFill>
                  <a:srgbClr val="1A1B1B"/>
                </a:solidFill>
                <a:latin typeface="Roboto"/>
                <a:cs typeface="Roboto"/>
              </a:rPr>
              <a:t>Times are Oslo time. Rooms can change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193233"/>
                </a:solidFill>
                <a:latin typeface="Roboto"/>
                <a:cs typeface="Roboto"/>
              </a:rPr>
              <a:t>check the NIC agenda.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17" name="Node 17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19" name="Node 19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21" name="Node 21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23" name="Node 23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25" name="Node 25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27" name="Node 27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>
            <a:normAutofit/>
          </a:bodyPr>
          <a:lstStyle/>
          <a:p>
            <a:pPr/>
            <a:r>
              <a:rPr lang="en-US" sz="2600" dirty="0"/>
              <a:t>Voyage complete. Day 2 never ends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31520" y="1700784"/>
            <a:ext cx="7680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1A1B1B"/>
                </a:solidFill>
                <a:latin typeface="Roboto"/>
                <a:cs typeface="Roboto"/>
              </a:rPr>
              <a:t>Questions in the hallway; the repo is yours.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392424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ctr"/>
            <a:r>
              <a:rPr lang="en-US" sz="1700" dirty="0">
                <a:solidFill>
                  <a:srgbClr val="193233"/>
                </a:solidFill>
                <a:latin typeface="Roboto"/>
                <a:cs typeface="Roboto"/>
              </a:rPr>
              <a:t>Repo and demo guide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017520" y="4873752"/>
            <a:ext cx="4754880" cy="0"/>
          </a:xfrm>
          <a:prstGeom prst="line">
            <a:avLst/>
          </a:prstGeom>
          <a:ln w="15875">
            <a:solidFill>
              <a:srgbClr val="5E9A9E"/>
            </a:solidFill>
          </a:ln>
        </p:spPr>
      </p:cxnSp>
      <p:sp>
        <p:nvSpPr>
          <p:cNvPr id="6" name="Node 6"/>
          <p:cNvSpPr/>
          <p:nvPr/>
        </p:nvSpPr>
        <p:spPr>
          <a:xfrm>
            <a:off x="2976372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6032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Chart</a:t>
            </a:r>
          </a:p>
        </p:txBody>
      </p:sp>
      <p:sp>
        <p:nvSpPr>
          <p:cNvPr id="8" name="Node 8"/>
          <p:cNvSpPr/>
          <p:nvPr/>
        </p:nvSpPr>
        <p:spPr>
          <a:xfrm>
            <a:off x="3927348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11296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Build</a:t>
            </a:r>
          </a:p>
        </p:txBody>
      </p:sp>
      <p:sp>
        <p:nvSpPr>
          <p:cNvPr id="10" name="Node 10"/>
          <p:cNvSpPr/>
          <p:nvPr/>
        </p:nvSpPr>
        <p:spPr>
          <a:xfrm>
            <a:off x="4878324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462272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Seaworthy</a:t>
            </a:r>
          </a:p>
        </p:txBody>
      </p:sp>
      <p:sp>
        <p:nvSpPr>
          <p:cNvPr id="12" name="Node 12"/>
          <p:cNvSpPr/>
          <p:nvPr/>
        </p:nvSpPr>
        <p:spPr>
          <a:xfrm>
            <a:off x="5829300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413248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Cargo</a:t>
            </a:r>
          </a:p>
        </p:txBody>
      </p:sp>
      <p:sp>
        <p:nvSpPr>
          <p:cNvPr id="14" name="Node 14"/>
          <p:cNvSpPr/>
          <p:nvPr/>
        </p:nvSpPr>
        <p:spPr>
          <a:xfrm>
            <a:off x="6780276" y="4832604"/>
            <a:ext cx="82296" cy="82296"/>
          </a:xfrm>
          <a:prstGeom prst="ellipse">
            <a:avLst/>
          </a:prstGeom>
          <a:solidFill>
            <a:srgbClr val="5E9A9E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364224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dirty="0">
                <a:solidFill>
                  <a:srgbClr val="2E4546"/>
                </a:solidFill>
                <a:latin typeface="Roboto"/>
                <a:cs typeface="Roboto"/>
              </a:rPr>
              <a:t>Storm</a:t>
            </a:r>
          </a:p>
        </p:txBody>
      </p:sp>
      <p:sp>
        <p:nvSpPr>
          <p:cNvPr id="16" name="Node 16"/>
          <p:cNvSpPr/>
          <p:nvPr/>
        </p:nvSpPr>
        <p:spPr>
          <a:xfrm>
            <a:off x="7703820" y="4805172"/>
            <a:ext cx="137160" cy="137160"/>
          </a:xfrm>
          <a:prstGeom prst="ellipse">
            <a:avLst/>
          </a:prstGeom>
          <a:solidFill>
            <a:srgbClr val="193233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315200" y="4626864"/>
            <a:ext cx="914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A1B1B"/>
                </a:solidFill>
                <a:latin typeface="Roboto"/>
                <a:cs typeface="Roboto"/>
              </a:rPr>
              <a:t>Harbour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0" y="472744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 dirty="0">
                <a:solidFill>
                  <a:srgbClr val="2E4546"/>
                </a:solidFill>
                <a:latin typeface="Roboto"/>
                <a:cs typeface="Roboto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mal_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1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0606D0306B414485AB0ED919BE5093" ma:contentTypeVersion="9" ma:contentTypeDescription="Opprett et nytt dokument." ma:contentTypeScope="" ma:versionID="86e9e4850e235c65c8f7baa53c7b85b0">
  <xsd:schema xmlns:xsd="http://www.w3.org/2001/XMLSchema" xmlns:xs="http://www.w3.org/2001/XMLSchema" xmlns:p="http://schemas.microsoft.com/office/2006/metadata/properties" xmlns:ns2="aecd07d0-0a4a-468d-8d2c-4a3699fc1520" targetNamespace="http://schemas.microsoft.com/office/2006/metadata/properties" ma:root="true" ma:fieldsID="4fc96f60fa9e8a66d91aa9b5ee3560b2" ns2:_="">
    <xsd:import namespace="aecd07d0-0a4a-468d-8d2c-4a3699fc15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d07d0-0a4a-468d-8d2c-4a3699fc1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a82fb023-be25-41c8-82b3-54dea1880b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cd07d0-0a4a-468d-8d2c-4a3699fc15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5E7B90-D9B1-4401-9CFA-9F79C1459A12}"/>
</file>

<file path=customXml/itemProps2.xml><?xml version="1.0" encoding="utf-8"?>
<ds:datastoreItem xmlns:ds="http://schemas.openxmlformats.org/officeDocument/2006/customXml" ds:itemID="{0404F62A-926D-496C-8752-68B7680A57D6}"/>
</file>

<file path=customXml/itemProps3.xml><?xml version="1.0" encoding="utf-8"?>
<ds:datastoreItem xmlns:ds="http://schemas.openxmlformats.org/officeDocument/2006/customXml" ds:itemID="{C598BBD6-4872-427A-8421-76B5D6EEA5AB}"/>
</file>

<file path=docProps/app.xml><?xml version="1.0" encoding="utf-8"?>
<Properties xmlns="http://schemas.openxmlformats.org/officeDocument/2006/extended-properties" xmlns:vt="http://schemas.openxmlformats.org/officeDocument/2006/docPropsVTypes">
  <Template>PPT-mal_NIC.potx</Template>
  <Application>Microsoft Office PowerPoint</Application>
  <PresentationFormat>On-screen Show (16:9)</PresentationFormat>
  <Slides>36</Slides>
  <Notes>0</Notes>
  <HiddenSlides>0</Hidden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Local, Discovery to Day 2</dc:title>
  <dc:subject>Hybrid Cloud: Plan, Deploy, and Operate Azure Local from Discovery to Day 2</dc:subject>
  <dc:creator>Kristopher Turner</dc:creator>
  <cp:lastModifiedBy>Kristopher Turner</cp:lastModifiedBy>
  <cp:revision>1</cp:revision>
  <dcterms:created xsi:type="dcterms:W3CDTF">2026-10-12T20:37:23Z</dcterms:created>
  <dcterms:modified xsi:type="dcterms:W3CDTF">2026-10-12T20:37:23Z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0x010100550606D0306B414485AB0ED919BE5093</vt:lpwstr>
  </property>
</Properties>
</file>